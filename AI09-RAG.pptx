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5"/>
  </p:notesMasterIdLst>
  <p:handoutMasterIdLst>
    <p:handoutMasterId r:id="rId46"/>
  </p:handoutMasterIdLst>
  <p:sldIdLst>
    <p:sldId id="264" r:id="rId2"/>
    <p:sldId id="265" r:id="rId3"/>
    <p:sldId id="266" r:id="rId4"/>
    <p:sldId id="286" r:id="rId5"/>
    <p:sldId id="287" r:id="rId6"/>
    <p:sldId id="267" r:id="rId7"/>
    <p:sldId id="277" r:id="rId8"/>
    <p:sldId id="268" r:id="rId9"/>
    <p:sldId id="276" r:id="rId10"/>
    <p:sldId id="288" r:id="rId11"/>
    <p:sldId id="289" r:id="rId12"/>
    <p:sldId id="290" r:id="rId13"/>
    <p:sldId id="293" r:id="rId14"/>
    <p:sldId id="282" r:id="rId15"/>
    <p:sldId id="270" r:id="rId16"/>
    <p:sldId id="275" r:id="rId17"/>
    <p:sldId id="271" r:id="rId18"/>
    <p:sldId id="294" r:id="rId19"/>
    <p:sldId id="272" r:id="rId20"/>
    <p:sldId id="273" r:id="rId21"/>
    <p:sldId id="274" r:id="rId22"/>
    <p:sldId id="295" r:id="rId23"/>
    <p:sldId id="296" r:id="rId24"/>
    <p:sldId id="278" r:id="rId25"/>
    <p:sldId id="279" r:id="rId26"/>
    <p:sldId id="280" r:id="rId27"/>
    <p:sldId id="281" r:id="rId28"/>
    <p:sldId id="283" r:id="rId29"/>
    <p:sldId id="299" r:id="rId30"/>
    <p:sldId id="300" r:id="rId31"/>
    <p:sldId id="307" r:id="rId32"/>
    <p:sldId id="308" r:id="rId33"/>
    <p:sldId id="285" r:id="rId34"/>
    <p:sldId id="310" r:id="rId35"/>
    <p:sldId id="312" r:id="rId36"/>
    <p:sldId id="314" r:id="rId37"/>
    <p:sldId id="315" r:id="rId38"/>
    <p:sldId id="316" r:id="rId39"/>
    <p:sldId id="317" r:id="rId40"/>
    <p:sldId id="320" r:id="rId41"/>
    <p:sldId id="321" r:id="rId42"/>
    <p:sldId id="284" r:id="rId43"/>
    <p:sldId id="322" r:id="rId4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5737324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RAG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74303-5807-48EF-6630-C66B005A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0C8A03-1DF1-D020-430E-79E31BFE9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Retrieval-augmented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endParaRPr lang="fr-FR" dirty="0"/>
          </a:p>
          <a:p>
            <a:r>
              <a:rPr lang="fr-FR" dirty="0"/>
              <a:t>La Génération Augmentée de Récupération est une technique d'optimisation de réponses LLM</a:t>
            </a:r>
          </a:p>
          <a:p>
            <a:r>
              <a:rPr lang="fr-FR" dirty="0"/>
              <a:t>Cette méthode permet notamment d'améliorer la qualité de réponses aux requêtes en permettant aux LLM d'exploiter des ressources de données supplémentaires sans </a:t>
            </a:r>
            <a:r>
              <a:rPr lang="fr-FR" dirty="0" err="1"/>
              <a:t>ré-entraînement</a:t>
            </a:r>
            <a:endParaRPr lang="fr-FR" dirty="0"/>
          </a:p>
          <a:p>
            <a:pPr lvl="1"/>
            <a:r>
              <a:rPr lang="fr-FR" dirty="0"/>
              <a:t>Les cas d'utilisation incluent l'accès via un </a:t>
            </a:r>
            <a:r>
              <a:rPr lang="fr-FR" dirty="0" err="1"/>
              <a:t>chatbot</a:t>
            </a:r>
            <a:r>
              <a:rPr lang="fr-FR" dirty="0"/>
              <a:t> aux données internes de l'entreprise ou la diffusion d'informations vérifiées provenant exclusivement de sources fiables et reconnues</a:t>
            </a:r>
          </a:p>
        </p:txBody>
      </p:sp>
    </p:spTree>
    <p:extLst>
      <p:ext uri="{BB962C8B-B14F-4D97-AF65-F5344CB8AC3E}">
        <p14:creationId xmlns:p14="http://schemas.microsoft.com/office/powerpoint/2010/main" val="347561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2D864-D576-1576-27C7-AE7FD389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pic>
        <p:nvPicPr>
          <p:cNvPr id="5" name="Espace réservé du contenu 4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F51FEF5-76BA-DD61-DBD5-A0978CE30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14" y="980729"/>
            <a:ext cx="6786044" cy="5472460"/>
          </a:xfrm>
        </p:spPr>
      </p:pic>
    </p:spTree>
    <p:extLst>
      <p:ext uri="{BB962C8B-B14F-4D97-AF65-F5344CB8AC3E}">
        <p14:creationId xmlns:p14="http://schemas.microsoft.com/office/powerpoint/2010/main" val="397370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E766A-D7EB-8753-5BF7-41F5DAD3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index_diagram">
            <a:extLst>
              <a:ext uri="{FF2B5EF4-FFF2-40B4-BE49-F238E27FC236}">
                <a16:creationId xmlns:a16="http://schemas.microsoft.com/office/drawing/2014/main" id="{E97727BE-F777-EEDA-FD92-C4E4497C0F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728761"/>
            <a:ext cx="8766175" cy="440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23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398C0-CFE9-352D-F9ED-CA3EE8AC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BDD323-629B-5404-85C8-3CD3D0E34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retrieval_diagram">
            <a:extLst>
              <a:ext uri="{FF2B5EF4-FFF2-40B4-BE49-F238E27FC236}">
                <a16:creationId xmlns:a16="http://schemas.microsoft.com/office/drawing/2014/main" id="{AE830D2C-C82D-4590-43C4-4C8B75CEC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675"/>
            <a:ext cx="9144000" cy="469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637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F1CA9-48A4-1270-8CE8-2AAEB2DF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composants du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119DE5-D6DD-EC9A-E975-42E4B10F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LLM</a:t>
            </a:r>
          </a:p>
          <a:p>
            <a:pPr lvl="1"/>
            <a:r>
              <a:rPr lang="fr-FR" dirty="0"/>
              <a:t>Le modèle utilisé</a:t>
            </a:r>
          </a:p>
          <a:p>
            <a:r>
              <a:rPr lang="fr-FR" dirty="0" err="1"/>
              <a:t>Embedding</a:t>
            </a:r>
            <a:endParaRPr lang="fr-FR" dirty="0"/>
          </a:p>
          <a:p>
            <a:pPr lvl="1"/>
            <a:r>
              <a:rPr lang="fr-FR" dirty="0"/>
              <a:t>Modèle d'indexation</a:t>
            </a:r>
          </a:p>
          <a:p>
            <a:pPr lvl="1"/>
            <a:r>
              <a:rPr lang="fr-FR" dirty="0" err="1"/>
              <a:t>Chunks</a:t>
            </a:r>
            <a:endParaRPr lang="fr-FR" dirty="0"/>
          </a:p>
          <a:p>
            <a:pPr lvl="1"/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FR" dirty="0"/>
          </a:p>
          <a:p>
            <a:pPr lvl="1"/>
            <a:r>
              <a:rPr lang="fr-FR" dirty="0" err="1"/>
              <a:t>Retrieval</a:t>
            </a:r>
            <a:endParaRPr lang="fr-FR" dirty="0"/>
          </a:p>
          <a:p>
            <a:r>
              <a:rPr lang="fr-FR" dirty="0"/>
              <a:t>Augmentation</a:t>
            </a:r>
          </a:p>
          <a:p>
            <a:pPr lvl="1"/>
            <a:r>
              <a:rPr lang="fr-FR" dirty="0"/>
              <a:t>Augmentation du contexte</a:t>
            </a:r>
          </a:p>
          <a:p>
            <a:pPr lvl="1"/>
            <a:r>
              <a:rPr lang="fr-FR" dirty="0"/>
              <a:t>Accès au LLM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1396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B9487-0DC7-C501-0467-450DA783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Plusieurs méthodologies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32ACE1-D449-EC80-81DB-98E7C5D93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Injection des documents dans le prompt</a:t>
            </a:r>
          </a:p>
          <a:p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Fine Tuning</a:t>
            </a:r>
          </a:p>
          <a:p>
            <a:r>
              <a:rPr lang="fr-FR" dirty="0"/>
              <a:t>Agent IA</a:t>
            </a:r>
          </a:p>
          <a:p>
            <a:r>
              <a:rPr lang="fr-FR" dirty="0"/>
              <a:t>Mixte</a:t>
            </a:r>
          </a:p>
        </p:txBody>
      </p:sp>
    </p:spTree>
    <p:extLst>
      <p:ext uri="{BB962C8B-B14F-4D97-AF65-F5344CB8AC3E}">
        <p14:creationId xmlns:p14="http://schemas.microsoft.com/office/powerpoint/2010/main" val="200629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05F0F3-4AC6-9D0B-A529-33240D32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Injection du 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39E34-3C46-552E-EC5C-B1894559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Méthode simple</a:t>
            </a:r>
          </a:p>
          <a:p>
            <a:r>
              <a:rPr lang="fr-FR" dirty="0"/>
              <a:t>Dans un LLM il est possible d'injecter un document qui sert de contexte</a:t>
            </a:r>
          </a:p>
          <a:p>
            <a:pPr lvl="1"/>
            <a:r>
              <a:rPr lang="fr-FR" dirty="0"/>
              <a:t>Dans ce document retrouver moi l'information pertinente</a:t>
            </a:r>
          </a:p>
          <a:p>
            <a:pPr lvl="1"/>
            <a:r>
              <a:rPr lang="fr-FR" dirty="0"/>
              <a:t>Limitation du nombre de </a:t>
            </a:r>
            <a:r>
              <a:rPr lang="fr-FR" dirty="0" err="1"/>
              <a:t>Token</a:t>
            </a:r>
            <a:endParaRPr lang="fr-FR" dirty="0"/>
          </a:p>
          <a:p>
            <a:pPr lvl="1"/>
            <a:r>
              <a:rPr lang="fr-FR" dirty="0"/>
              <a:t>Entre 4000 </a:t>
            </a:r>
            <a:r>
              <a:rPr lang="fr-FR" dirty="0" err="1"/>
              <a:t>tokens</a:t>
            </a:r>
            <a:r>
              <a:rPr lang="fr-FR" dirty="0"/>
              <a:t> et 16 000 </a:t>
            </a:r>
            <a:r>
              <a:rPr lang="fr-FR" dirty="0" err="1"/>
              <a:t>tokens</a:t>
            </a:r>
            <a:r>
              <a:rPr lang="fr-FR" dirty="0"/>
              <a:t> pour les meilleurs modèles</a:t>
            </a:r>
          </a:p>
          <a:p>
            <a:pPr lvl="1"/>
            <a:r>
              <a:rPr lang="fr-FR" dirty="0"/>
              <a:t>Il est possible d'injecter en plusieurs fois</a:t>
            </a:r>
          </a:p>
          <a:p>
            <a:pPr lvl="1"/>
            <a:r>
              <a:rPr lang="fr-FR" dirty="0"/>
              <a:t>Il faut tout réinjecter à chaque fois</a:t>
            </a:r>
          </a:p>
          <a:p>
            <a:pPr lvl="1"/>
            <a:r>
              <a:rPr lang="fr-FR" dirty="0"/>
              <a:t>Chère €</a:t>
            </a:r>
          </a:p>
          <a:p>
            <a:pPr lvl="1"/>
            <a:r>
              <a:rPr lang="fr-FR" dirty="0"/>
              <a:t>Limité à une centaine de pages</a:t>
            </a:r>
          </a:p>
        </p:txBody>
      </p:sp>
    </p:spTree>
    <p:extLst>
      <p:ext uri="{BB962C8B-B14F-4D97-AF65-F5344CB8AC3E}">
        <p14:creationId xmlns:p14="http://schemas.microsoft.com/office/powerpoint/2010/main" val="217908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A56A7-B9C8-8BD9-4FE4-32E26587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801E3C-E6FD-6CEF-ABC3-91185EC1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Transformer est un mécanisme d'IA qui transforme un objet quelconque en une entité mathématique appelé tenseur</a:t>
            </a:r>
          </a:p>
          <a:p>
            <a:pPr lvl="1"/>
            <a:r>
              <a:rPr lang="fr-FR" dirty="0"/>
              <a:t>Texte vers vecteur</a:t>
            </a:r>
          </a:p>
          <a:p>
            <a:pPr lvl="1"/>
            <a:r>
              <a:rPr lang="fr-FR" dirty="0"/>
              <a:t>Image vers matrice ou vecteur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37CD86-C10C-053B-97F6-9DA8AF441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3933056"/>
            <a:ext cx="2534004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3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E80F7A-6628-0BCD-F841-7B878128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AEECF1-D815-EC56-EFF3-8BB5D58BD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Chunk</a:t>
            </a:r>
            <a:r>
              <a:rPr lang="fr-FR" dirty="0"/>
              <a:t> est un transformer qui va découper le document</a:t>
            </a:r>
          </a:p>
          <a:p>
            <a:pPr lvl="1"/>
            <a:r>
              <a:rPr lang="fr-FR" dirty="0"/>
              <a:t>Suivant une logique</a:t>
            </a:r>
          </a:p>
          <a:p>
            <a:pPr lvl="1"/>
            <a:r>
              <a:rPr lang="fr-FR" dirty="0"/>
              <a:t>Une taille</a:t>
            </a:r>
          </a:p>
          <a:p>
            <a:pPr lvl="1"/>
            <a:r>
              <a:rPr lang="fr-FR" dirty="0"/>
              <a:t>…</a:t>
            </a:r>
          </a:p>
          <a:p>
            <a:pPr lvl="1"/>
            <a:r>
              <a:rPr lang="fr-FR" dirty="0"/>
              <a:t>Voir chapitre suivant</a:t>
            </a:r>
          </a:p>
        </p:txBody>
      </p:sp>
    </p:spTree>
    <p:extLst>
      <p:ext uri="{BB962C8B-B14F-4D97-AF65-F5344CB8AC3E}">
        <p14:creationId xmlns:p14="http://schemas.microsoft.com/office/powerpoint/2010/main" val="1353480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DF7322-0CCC-53E1-5798-7F250941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Vectorisation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518453-1905-D42F-4E62-54DACEB8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vectorisation est un Transformer qui transforme un objet en un vecteur algébrique</a:t>
            </a:r>
          </a:p>
          <a:p>
            <a:pPr lvl="1"/>
            <a:r>
              <a:rPr lang="fr-FR" dirty="0"/>
              <a:t>Par exemple du texte</a:t>
            </a:r>
          </a:p>
          <a:p>
            <a:r>
              <a:rPr lang="fr-FR" dirty="0"/>
              <a:t>Puis de le stocker</a:t>
            </a:r>
          </a:p>
          <a:p>
            <a:r>
              <a:rPr lang="fr-FR" dirty="0"/>
              <a:t>Puis de l'envoyer au LLM</a:t>
            </a:r>
          </a:p>
          <a:p>
            <a:pPr lvl="1"/>
            <a:r>
              <a:rPr lang="fr-FR" dirty="0"/>
              <a:t>On parle alors d'</a:t>
            </a:r>
            <a:r>
              <a:rPr lang="fr-FR" dirty="0" err="1"/>
              <a:t>embeddings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9851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420DB5-0148-D6A2-8016-786B7225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Vecteur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A85809-5C0E-D57E-52E8-E16D164B9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mathématiques, un vecteur est un objet généralisant plusieurs notions provenant de la géométrie, de l'algèbre ou de la physique</a:t>
            </a:r>
          </a:p>
          <a:p>
            <a:r>
              <a:rPr lang="fr-FR" dirty="0"/>
              <a:t>Exemple de vecteur</a:t>
            </a:r>
          </a:p>
          <a:p>
            <a:r>
              <a:rPr lang="fr-FR" dirty="0"/>
              <a:t>Un vecteur peut avoir une dimension largement supérieure à 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0682371-7486-0C55-DB78-23B1A79B5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005064"/>
            <a:ext cx="2289635" cy="194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16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A2389-EF72-758A-EBA1-F981B399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644524-E9D5-52B9-6472-5CD4FE1E6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74A8C6-F5C1-1765-1254-5A154F7BE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276049"/>
            <a:ext cx="2829181" cy="517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38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E92794-BC93-695F-1C63-9666BF75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27A361-9574-ECCC-C00F-906CDD7F9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ne traitent pas le texte ou les images directement</a:t>
            </a:r>
          </a:p>
          <a:p>
            <a:pPr lvl="1"/>
            <a:r>
              <a:rPr lang="fr-FR" dirty="0"/>
              <a:t>Utilisation d'un Transformer</a:t>
            </a:r>
          </a:p>
          <a:p>
            <a:r>
              <a:rPr lang="fr-FR" dirty="0"/>
              <a:t>Ils les transforment en vecteurs par un modèle d'</a:t>
            </a:r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Puis le LLM traite le vecteur dans un réseau de neurones</a:t>
            </a:r>
          </a:p>
          <a:p>
            <a:endParaRPr lang="fr-FR" dirty="0"/>
          </a:p>
        </p:txBody>
      </p:sp>
      <p:pic>
        <p:nvPicPr>
          <p:cNvPr id="1028" name="Picture 4" descr="Vector Embeddings are a list of numbers">
            <a:extLst>
              <a:ext uri="{FF2B5EF4-FFF2-40B4-BE49-F238E27FC236}">
                <a16:creationId xmlns:a16="http://schemas.microsoft.com/office/drawing/2014/main" id="{FFA81DE1-A09D-6203-B5D1-2231E64C8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317912"/>
            <a:ext cx="6156176" cy="213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293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CEB41D-4288-7CD7-1C1A-98248A1E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EA51A-970C-F8ED-2D4A-60061A80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 représente ce vecteur ?</a:t>
            </a:r>
          </a:p>
          <a:p>
            <a:pPr lvl="1"/>
            <a:r>
              <a:rPr lang="fr-FR" dirty="0"/>
              <a:t>Il s'agit de la représentation d'une phrase ou d'une image dans un très grand nombre de dimension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82F0E9-287D-56CC-9E37-994E2778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2936"/>
            <a:ext cx="9050013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16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FE3AB-AE74-D31D-9E3F-2ED46B9F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USE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9BDBD-E58A-9999-77C7-76BFF7EB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Universal Sentence Encoder</a:t>
            </a:r>
          </a:p>
          <a:p>
            <a:pPr lvl="1"/>
            <a:r>
              <a:rPr lang="fr-FR" dirty="0"/>
              <a:t>Texte seulement</a:t>
            </a:r>
          </a:p>
          <a:p>
            <a:pPr lvl="1"/>
            <a:r>
              <a:rPr lang="fr-FR" dirty="0"/>
              <a:t>Historique</a:t>
            </a:r>
          </a:p>
          <a:p>
            <a:pPr lvl="1"/>
            <a:r>
              <a:rPr lang="fr-FR" dirty="0"/>
              <a:t>512 float32 = 16384 bits = 2 Ko</a:t>
            </a:r>
          </a:p>
          <a:p>
            <a:pPr lvl="1"/>
            <a:r>
              <a:rPr lang="fr-FR" dirty="0"/>
              <a:t>Deep </a:t>
            </a:r>
            <a:r>
              <a:rPr lang="fr-FR" dirty="0" err="1"/>
              <a:t>Average</a:t>
            </a:r>
            <a:r>
              <a:rPr lang="fr-FR" dirty="0"/>
              <a:t> Network (DAN)</a:t>
            </a:r>
          </a:p>
          <a:p>
            <a:pPr lvl="1"/>
            <a:r>
              <a:rPr lang="fr-FR" dirty="0"/>
              <a:t>Entrainé en 2018</a:t>
            </a:r>
          </a:p>
          <a:p>
            <a:pPr lvl="1"/>
            <a:r>
              <a:rPr lang="fr-FR" dirty="0"/>
              <a:t>Ne nécessite pas de GPU</a:t>
            </a:r>
          </a:p>
          <a:p>
            <a:pPr lvl="1"/>
            <a:r>
              <a:rPr lang="fr-FR" dirty="0"/>
              <a:t>Entrainé sur </a:t>
            </a:r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/>
              <a:t>Dans toutes les langues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4620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97C07-CEB1-F506-2170-7E042837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 vecteurs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5E2D36-AC55-C254-1304-DDCFD256F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Mathématiquement il est possible de comparer des vecteurs</a:t>
            </a:r>
          </a:p>
          <a:p>
            <a:r>
              <a:rPr lang="fr-FR" dirty="0"/>
              <a:t>Supposons des vecteurs de </a:t>
            </a:r>
            <a:r>
              <a:rPr lang="fr-FR" dirty="0" err="1"/>
              <a:t>shape</a:t>
            </a:r>
            <a:r>
              <a:rPr lang="fr-FR" dirty="0"/>
              <a:t> (2,)</a:t>
            </a:r>
          </a:p>
          <a:p>
            <a:pPr lvl="1"/>
            <a:r>
              <a:rPr lang="fr-FR" dirty="0"/>
              <a:t>Représentation d'un point </a:t>
            </a:r>
            <a:r>
              <a:rPr lang="fr-FR" dirty="0" err="1"/>
              <a:t>x,y</a:t>
            </a:r>
            <a:r>
              <a:rPr lang="fr-FR" dirty="0"/>
              <a:t> en 2D</a:t>
            </a:r>
          </a:p>
          <a:p>
            <a:pPr lvl="1"/>
            <a:r>
              <a:rPr lang="fr-FR" dirty="0"/>
              <a:t>Par exemple [3,2] représente le vecteur partant du point (0,0) et passant par le point (3,2)</a:t>
            </a:r>
          </a:p>
          <a:p>
            <a:pPr lvl="1"/>
            <a:r>
              <a:rPr lang="fr-FR" dirty="0"/>
              <a:t>Les vecteurs parallèles ont un cosinus à 1</a:t>
            </a:r>
          </a:p>
          <a:p>
            <a:pPr lvl="1"/>
            <a:r>
              <a:rPr lang="fr-FR" dirty="0"/>
              <a:t>Les vecteurs orthogonaux ont un cosinus à 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40F77D-0D43-4221-E54E-66338F1F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5013176"/>
            <a:ext cx="3883727" cy="156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01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1CC333-230A-4523-1CC1-9CC19519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 vecteurs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029590-9B2C-0F72-2D78-4B265CDC4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plusieurs outils pour comparer des vecteurs</a:t>
            </a:r>
          </a:p>
          <a:p>
            <a:pPr lvl="1"/>
            <a:r>
              <a:rPr lang="fr-FR" dirty="0"/>
              <a:t>Calcul de distance ou d'angle</a:t>
            </a:r>
          </a:p>
          <a:p>
            <a:pPr lvl="1"/>
            <a:r>
              <a:rPr lang="fr-FR" dirty="0"/>
              <a:t>Distance euclidienne</a:t>
            </a:r>
          </a:p>
          <a:p>
            <a:pPr lvl="1"/>
            <a:r>
              <a:rPr lang="fr-FR" dirty="0"/>
              <a:t>Produit scalaire</a:t>
            </a:r>
          </a:p>
          <a:p>
            <a:pPr lvl="1"/>
            <a:r>
              <a:rPr lang="fr-FR" dirty="0"/>
              <a:t>Cosinus</a:t>
            </a:r>
          </a:p>
          <a:p>
            <a:pPr lvl="1"/>
            <a:r>
              <a:rPr lang="fr-FR" dirty="0" err="1"/>
              <a:t>Hamming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4392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BEB3C-D93A-5E89-8D11-4E1DB2ED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Cosinus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FC1269-7D7B-9F6E-1DF8-AF099581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Lors de l'apprentissage il est fait la supposition suivante</a:t>
            </a:r>
          </a:p>
          <a:p>
            <a:pPr lvl="1"/>
            <a:r>
              <a:rPr lang="fr-FR" dirty="0"/>
              <a:t>2 vecteurs avec un cosinus = 1 sont parfaitement identiques</a:t>
            </a:r>
          </a:p>
          <a:p>
            <a:pPr lvl="1"/>
            <a:r>
              <a:rPr lang="fr-FR" dirty="0"/>
              <a:t>2 vecteurs avec un cosinus = 0 sont complètements différents</a:t>
            </a:r>
          </a:p>
          <a:p>
            <a:pPr lvl="1"/>
            <a:r>
              <a:rPr lang="fr-FR" dirty="0"/>
              <a:t>Le cosinus entre 2 vecteurs représente la ressemblance entre 2 phrases</a:t>
            </a:r>
          </a:p>
        </p:txBody>
      </p:sp>
    </p:spTree>
    <p:extLst>
      <p:ext uri="{BB962C8B-B14F-4D97-AF65-F5344CB8AC3E}">
        <p14:creationId xmlns:p14="http://schemas.microsoft.com/office/powerpoint/2010/main" val="2459520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A65271-6F94-6F83-B1F9-17C550E2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 des dimensions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06B851-A2C9-CB77-D812-988391F21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3 dimensions le vecteur est de </a:t>
            </a:r>
            <a:r>
              <a:rPr lang="fr-FR" dirty="0" err="1"/>
              <a:t>shape</a:t>
            </a:r>
            <a:r>
              <a:rPr lang="fr-FR" dirty="0"/>
              <a:t> (3,)</a:t>
            </a:r>
          </a:p>
          <a:p>
            <a:r>
              <a:rPr lang="fr-FR" dirty="0"/>
              <a:t>Les modèles d'</a:t>
            </a:r>
            <a:r>
              <a:rPr lang="fr-FR" dirty="0" err="1"/>
              <a:t>embedding</a:t>
            </a:r>
            <a:r>
              <a:rPr lang="fr-FR" dirty="0"/>
              <a:t> ont les dimensions suivantes en np.float32</a:t>
            </a:r>
          </a:p>
          <a:p>
            <a:pPr lvl="1"/>
            <a:r>
              <a:rPr lang="fr-FR" dirty="0"/>
              <a:t>Google USE : 512</a:t>
            </a:r>
          </a:p>
          <a:p>
            <a:pPr lvl="1"/>
            <a:r>
              <a:rPr lang="fr-FR" dirty="0"/>
              <a:t>Google BERT : 768</a:t>
            </a:r>
          </a:p>
          <a:p>
            <a:pPr lvl="1"/>
            <a:r>
              <a:rPr lang="fr-FR" dirty="0"/>
              <a:t>LLM Small : 1024</a:t>
            </a:r>
          </a:p>
          <a:p>
            <a:pPr lvl="1"/>
            <a:r>
              <a:rPr lang="fr-FR" dirty="0"/>
              <a:t>LLM récents : 3072 ou +</a:t>
            </a:r>
          </a:p>
        </p:txBody>
      </p:sp>
    </p:spTree>
    <p:extLst>
      <p:ext uri="{BB962C8B-B14F-4D97-AF65-F5344CB8AC3E}">
        <p14:creationId xmlns:p14="http://schemas.microsoft.com/office/powerpoint/2010/main" val="2529790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72005-90E5-E75D-04D4-7D391ECA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Transformation </a:t>
            </a:r>
            <a:r>
              <a:rPr lang="fr-FR" dirty="0" err="1"/>
              <a:t>cosine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E7EEF7-B975-0B16-D81D-3634D950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produit scalaire ou la transformation </a:t>
            </a:r>
            <a:r>
              <a:rPr lang="fr-FR" dirty="0" err="1"/>
              <a:t>cosine</a:t>
            </a:r>
            <a:r>
              <a:rPr lang="fr-FR" dirty="0"/>
              <a:t> permettent de calculer un cosinus entre 2 vecteurs dans des dimensions très élevées</a:t>
            </a:r>
          </a:p>
          <a:p>
            <a:pPr lvl="1"/>
            <a:r>
              <a:rPr lang="fr-FR" dirty="0"/>
              <a:t>Renvoie un cosinus entre 0 et 1</a:t>
            </a:r>
          </a:p>
          <a:p>
            <a:pPr lvl="1"/>
            <a:r>
              <a:rPr lang="fr-FR" dirty="0"/>
              <a:t>Taux de ressemblance</a:t>
            </a:r>
          </a:p>
          <a:p>
            <a:pPr lvl="1"/>
            <a:r>
              <a:rPr lang="fr-FR" dirty="0"/>
              <a:t>Rapide</a:t>
            </a:r>
          </a:p>
          <a:p>
            <a:pPr lvl="1"/>
            <a:r>
              <a:rPr lang="fr-FR" dirty="0" err="1"/>
              <a:t>np.inner</a:t>
            </a:r>
            <a:r>
              <a:rPr lang="fr-FR" dirty="0"/>
              <a:t>(v1, v2)</a:t>
            </a:r>
          </a:p>
          <a:p>
            <a:r>
              <a:rPr lang="fr-FR" dirty="0"/>
              <a:t>Il existe d'autres mesures de distance de vecteurs</a:t>
            </a:r>
          </a:p>
          <a:p>
            <a:pPr lvl="1"/>
            <a:r>
              <a:rPr lang="fr-FR" dirty="0"/>
              <a:t>Euclidienne</a:t>
            </a:r>
          </a:p>
          <a:p>
            <a:pPr lvl="1"/>
            <a:r>
              <a:rPr lang="fr-FR" dirty="0" err="1"/>
              <a:t>Hamming</a:t>
            </a:r>
            <a:r>
              <a:rPr lang="fr-FR" dirty="0"/>
              <a:t> : Nombre de 0 et 1 différents / taille du vecteur</a:t>
            </a:r>
          </a:p>
          <a:p>
            <a:pPr lvl="1"/>
            <a:r>
              <a:rPr lang="fr-FR" dirty="0"/>
              <a:t>Dot : produit scalaire</a:t>
            </a:r>
          </a:p>
        </p:txBody>
      </p:sp>
    </p:spTree>
    <p:extLst>
      <p:ext uri="{BB962C8B-B14F-4D97-AF65-F5344CB8AC3E}">
        <p14:creationId xmlns:p14="http://schemas.microsoft.com/office/powerpoint/2010/main" val="1434978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F6AE1A-1427-7165-27DA-DEBB4D9E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USE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01F3EF-DC4D-6929-0D39-C8DB7C41E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 USE utilise le produit scalaire pour mesurer la distance entre 2 vecteurs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D048C6-2841-B9E8-B43B-D4FB2C5B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246474"/>
            <a:ext cx="4757846" cy="422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51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DC654A-591F-5C95-2BDA-52C391E0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Compare </a:t>
            </a:r>
            <a:r>
              <a:rPr lang="fr-FR" dirty="0" err="1"/>
              <a:t>Embeddings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BB7F9A-559F-026B-A9AD-0BCB7573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05B068-73A0-8C07-5079-6956D229F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7" y="2060848"/>
            <a:ext cx="7563906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14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85B367-1E1B-19CB-081B-9D03ECBA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DFBDD4-72BC-A9EC-BC7D-53B2623D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2776"/>
            <a:ext cx="6451985" cy="5040560"/>
          </a:xfrm>
        </p:spPr>
        <p:txBody>
          <a:bodyPr/>
          <a:lstStyle/>
          <a:p>
            <a:r>
              <a:rPr lang="fr-FR" sz="2400" dirty="0"/>
              <a:t>Dû aux limitations des LLM</a:t>
            </a:r>
          </a:p>
          <a:p>
            <a:r>
              <a:rPr lang="fr-FR" sz="2400" dirty="0"/>
              <a:t>Dû aux limitations de la taille des vecteurs</a:t>
            </a:r>
          </a:p>
          <a:p>
            <a:r>
              <a:rPr lang="fr-FR" sz="2400" dirty="0"/>
              <a:t>Il est impossible d'</a:t>
            </a:r>
            <a:r>
              <a:rPr lang="fr-FR" sz="2400" dirty="0" err="1"/>
              <a:t>embedder</a:t>
            </a:r>
            <a:r>
              <a:rPr lang="fr-FR" sz="2400" dirty="0"/>
              <a:t> un long document dans un vecteur</a:t>
            </a:r>
          </a:p>
          <a:p>
            <a:r>
              <a:rPr lang="fr-FR" sz="2400" dirty="0"/>
              <a:t>Le </a:t>
            </a:r>
            <a:r>
              <a:rPr lang="fr-FR" sz="2400" dirty="0" err="1"/>
              <a:t>chunk</a:t>
            </a:r>
            <a:r>
              <a:rPr lang="fr-FR" sz="2400" dirty="0"/>
              <a:t> représente l'unité à </a:t>
            </a:r>
            <a:r>
              <a:rPr lang="fr-FR" sz="2400" dirty="0" err="1"/>
              <a:t>embedder</a:t>
            </a:r>
            <a:endParaRPr lang="fr-FR" sz="2400" dirty="0"/>
          </a:p>
          <a:p>
            <a:pPr lvl="1"/>
            <a:r>
              <a:rPr lang="fr-FR" sz="2000" dirty="0"/>
              <a:t>Par exemple un paragraphe d'un texte</a:t>
            </a:r>
          </a:p>
          <a:p>
            <a:pPr lvl="1"/>
            <a:r>
              <a:rPr lang="fr-FR" sz="2000" dirty="0"/>
              <a:t>Si trop petit : perte du contexte</a:t>
            </a:r>
          </a:p>
          <a:p>
            <a:pPr lvl="1"/>
            <a:r>
              <a:rPr lang="fr-FR" sz="2000" dirty="0"/>
              <a:t>Si trop grand : dilution dans le vecteur</a:t>
            </a:r>
          </a:p>
          <a:p>
            <a:pPr lvl="1"/>
            <a:r>
              <a:rPr lang="fr-FR" sz="2000" dirty="0"/>
              <a:t>Aujourd'hui avec la taille des vecteurs il est possible de </a:t>
            </a:r>
            <a:r>
              <a:rPr lang="fr-FR" sz="2000" dirty="0" err="1"/>
              <a:t>chuncker</a:t>
            </a:r>
            <a:r>
              <a:rPr lang="fr-FR" sz="2000" dirty="0"/>
              <a:t> une grande quantité de texte</a:t>
            </a:r>
          </a:p>
          <a:p>
            <a:pPr lvl="1"/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53BE92-0674-21C8-B341-1FD1C3FDC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497" y="2406942"/>
            <a:ext cx="2483768" cy="301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93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D1C95-2591-8CAB-9A94-7EA46ABD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 de </a:t>
            </a:r>
            <a:r>
              <a:rPr lang="fr-FR" dirty="0" err="1"/>
              <a:t>chunk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65E17-320D-2A27-6D84-C0BDEE48D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120680" cy="5040560"/>
          </a:xfrm>
        </p:spPr>
        <p:txBody>
          <a:bodyPr/>
          <a:lstStyle/>
          <a:p>
            <a:r>
              <a:rPr lang="fr-FR" dirty="0"/>
              <a:t>Pour le texte, il s'agit de le splitter soit par unité logique soit par taille</a:t>
            </a:r>
          </a:p>
          <a:p>
            <a:pPr lvl="1"/>
            <a:r>
              <a:rPr lang="fr-FR" dirty="0"/>
              <a:t>Par paragraphe</a:t>
            </a:r>
          </a:p>
          <a:p>
            <a:pPr lvl="1"/>
            <a:r>
              <a:rPr lang="fr-FR" dirty="0"/>
              <a:t>Par page</a:t>
            </a:r>
          </a:p>
          <a:p>
            <a:pPr lvl="1"/>
            <a:r>
              <a:rPr lang="fr-FR" dirty="0"/>
              <a:t>Par 1000 caractères avec chevauchement</a:t>
            </a:r>
          </a:p>
          <a:p>
            <a:pPr lvl="1"/>
            <a:r>
              <a:rPr lang="fr-FR" dirty="0"/>
              <a:t>Pas évident car en fonction des textes les paragraphes peuvent être petits ou grands</a:t>
            </a:r>
          </a:p>
          <a:p>
            <a:pPr lvl="1"/>
            <a:r>
              <a:rPr lang="fr-FR" dirty="0"/>
              <a:t>Au minimum le </a:t>
            </a:r>
            <a:r>
              <a:rPr lang="fr-FR" dirty="0" err="1"/>
              <a:t>chunk</a:t>
            </a:r>
            <a:r>
              <a:rPr lang="fr-FR" dirty="0"/>
              <a:t> est la phrase</a:t>
            </a:r>
          </a:p>
          <a:p>
            <a:pPr lvl="1"/>
            <a:r>
              <a:rPr lang="fr-FR" dirty="0"/>
              <a:t>Au maximum le </a:t>
            </a:r>
            <a:r>
              <a:rPr lang="fr-FR" dirty="0" err="1"/>
              <a:t>chunk</a:t>
            </a:r>
            <a:r>
              <a:rPr lang="fr-FR" dirty="0"/>
              <a:t> est le document entier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702105-D125-8112-DA6A-63581F12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1772816"/>
            <a:ext cx="2353003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98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17576-8C4A-5A5E-8340-33C0FBC3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r>
              <a:rPr lang="fr-FR" dirty="0"/>
              <a:t> avancé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D556DA-7A3F-B70F-CA63-7589C1BB8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Redondance d'informations</a:t>
            </a:r>
          </a:p>
          <a:p>
            <a:r>
              <a:rPr lang="fr-FR" dirty="0"/>
              <a:t>Réinjection systématique</a:t>
            </a:r>
          </a:p>
          <a:p>
            <a:pPr lvl="1"/>
            <a:r>
              <a:rPr lang="fr-FR" dirty="0"/>
              <a:t>du titre du document</a:t>
            </a:r>
          </a:p>
          <a:p>
            <a:pPr lvl="1"/>
            <a:r>
              <a:rPr lang="fr-FR" dirty="0"/>
              <a:t>des mots clés</a:t>
            </a:r>
          </a:p>
          <a:p>
            <a:pPr lvl="1"/>
            <a:r>
              <a:rPr lang="fr-FR" dirty="0"/>
              <a:t>des mots les plus utilisés</a:t>
            </a:r>
          </a:p>
          <a:p>
            <a:r>
              <a:rPr lang="fr-FR" dirty="0"/>
              <a:t>Chevauchement</a:t>
            </a:r>
          </a:p>
          <a:p>
            <a:pPr lvl="1"/>
            <a:r>
              <a:rPr lang="fr-FR" dirty="0"/>
              <a:t>Injection de la fin du </a:t>
            </a:r>
            <a:r>
              <a:rPr lang="fr-FR" dirty="0" err="1"/>
              <a:t>chunk</a:t>
            </a:r>
            <a:r>
              <a:rPr lang="fr-FR" dirty="0"/>
              <a:t> précédent</a:t>
            </a:r>
          </a:p>
          <a:p>
            <a:pPr lvl="1"/>
            <a:r>
              <a:rPr lang="fr-FR" dirty="0"/>
              <a:t>Injection du début du </a:t>
            </a:r>
            <a:r>
              <a:rPr lang="fr-FR" dirty="0" err="1"/>
              <a:t>chunk</a:t>
            </a:r>
            <a:r>
              <a:rPr lang="fr-FR" dirty="0"/>
              <a:t> suivant</a:t>
            </a:r>
          </a:p>
          <a:p>
            <a:r>
              <a:rPr lang="fr-FR" dirty="0"/>
              <a:t>Existence de </a:t>
            </a:r>
            <a:r>
              <a:rPr lang="fr-FR" dirty="0" err="1"/>
              <a:t>framework</a:t>
            </a:r>
            <a:endParaRPr lang="fr-FR" dirty="0"/>
          </a:p>
          <a:p>
            <a:pPr lvl="1"/>
            <a:r>
              <a:rPr lang="fr-FR" dirty="0"/>
              <a:t>Codé à la main dans </a:t>
            </a:r>
            <a:r>
              <a:rPr lang="fr-FR" dirty="0" err="1"/>
              <a:t>custom_rag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4390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721E5-25BC-9EDF-E8EC-B9822BFBA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l'</a:t>
            </a:r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06A091-35B9-4350-6660-81F75F924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048672" cy="5040560"/>
          </a:xfrm>
        </p:spPr>
        <p:txBody>
          <a:bodyPr/>
          <a:lstStyle/>
          <a:p>
            <a:r>
              <a:rPr lang="fr-FR" dirty="0"/>
              <a:t>Le résultat de l'</a:t>
            </a:r>
            <a:r>
              <a:rPr lang="fr-FR" dirty="0" err="1"/>
              <a:t>embedding</a:t>
            </a:r>
            <a:r>
              <a:rPr lang="fr-FR" dirty="0"/>
              <a:t> est une liste de vecteur</a:t>
            </a:r>
          </a:p>
          <a:p>
            <a:pPr lvl="1"/>
            <a:r>
              <a:rPr lang="fr-FR" dirty="0"/>
              <a:t>De </a:t>
            </a:r>
            <a:r>
              <a:rPr lang="fr-FR" dirty="0" err="1"/>
              <a:t>shape</a:t>
            </a:r>
            <a:r>
              <a:rPr lang="fr-FR" dirty="0"/>
              <a:t> (-1, 512) pour Use</a:t>
            </a:r>
          </a:p>
          <a:p>
            <a:pPr lvl="1"/>
            <a:r>
              <a:rPr lang="fr-FR" dirty="0"/>
              <a:t>En grande quantité</a:t>
            </a:r>
          </a:p>
          <a:p>
            <a:pPr lvl="1"/>
            <a:r>
              <a:rPr lang="fr-FR" dirty="0"/>
              <a:t>Nécessité d'un stockage</a:t>
            </a:r>
          </a:p>
          <a:p>
            <a:pPr lvl="1"/>
            <a:r>
              <a:rPr lang="fr-FR" dirty="0"/>
              <a:t>En RAM : max 1 à 10 millions</a:t>
            </a:r>
          </a:p>
          <a:p>
            <a:pPr lvl="1"/>
            <a:r>
              <a:rPr lang="fr-FR" dirty="0"/>
              <a:t>En BD</a:t>
            </a:r>
          </a:p>
          <a:p>
            <a:pPr lvl="1"/>
            <a:r>
              <a:rPr lang="fr-FR" dirty="0"/>
              <a:t>Nécessité de stocker des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r>
              <a:rPr lang="fr-FR" dirty="0"/>
              <a:t>Titre, keywords, texte du </a:t>
            </a:r>
            <a:r>
              <a:rPr lang="fr-FR" dirty="0" err="1"/>
              <a:t>chunk</a:t>
            </a:r>
            <a:r>
              <a:rPr lang="fr-FR" dirty="0"/>
              <a:t>, 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2C9F1A-D147-9C60-C2D4-AEBF78E7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1255874"/>
            <a:ext cx="3024333" cy="535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46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F17E7-295C-B0CD-CAB9-D3D6B353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33CBD0-2032-B249-E3DE-18575461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traitement automatique du langage naturel, BERT, acronyme anglais de </a:t>
            </a:r>
            <a:r>
              <a:rPr lang="fr-FR" dirty="0" err="1"/>
              <a:t>Bidirectional</a:t>
            </a:r>
            <a:r>
              <a:rPr lang="fr-FR" dirty="0"/>
              <a:t> Encoder </a:t>
            </a:r>
            <a:r>
              <a:rPr lang="fr-FR" dirty="0" err="1"/>
              <a:t>Representations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Transformers, est un modèle de langage développé par Google en 2018</a:t>
            </a:r>
          </a:p>
          <a:p>
            <a:r>
              <a:rPr lang="fr-FR" dirty="0"/>
              <a:t>Entrainé sur </a:t>
            </a:r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/>
              <a:t>Puis de nombreux autres sites</a:t>
            </a:r>
          </a:p>
          <a:p>
            <a:pPr lvl="1"/>
            <a:r>
              <a:rPr lang="fr-FR" dirty="0"/>
              <a:t>Dans toutes les langues</a:t>
            </a:r>
          </a:p>
          <a:p>
            <a:pPr lvl="1"/>
            <a:r>
              <a:rPr lang="fr-FR" dirty="0"/>
              <a:t>Texte seulement</a:t>
            </a:r>
          </a:p>
          <a:p>
            <a:pPr lvl="1"/>
            <a:r>
              <a:rPr lang="fr-FR" dirty="0"/>
              <a:t>768 float32 = 3Ko</a:t>
            </a:r>
          </a:p>
          <a:p>
            <a:pPr lvl="1"/>
            <a:r>
              <a:rPr lang="fr-FR" dirty="0"/>
              <a:t>GPU souhaitable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5551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08D9C6-E00B-73F5-8813-9BC5D7F7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des distances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902110-FF0B-E608-29E4-A9C169CE0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Après chainage des </a:t>
            </a:r>
            <a:r>
              <a:rPr lang="fr-FR" dirty="0" err="1"/>
              <a:t>transformers</a:t>
            </a:r>
            <a:r>
              <a:rPr lang="fr-FR" dirty="0"/>
              <a:t> </a:t>
            </a:r>
            <a:r>
              <a:rPr lang="fr-FR" dirty="0" err="1"/>
              <a:t>précedents</a:t>
            </a:r>
            <a:endParaRPr lang="fr-FR" dirty="0"/>
          </a:p>
          <a:p>
            <a:pPr lvl="1"/>
            <a:r>
              <a:rPr lang="fr-FR" dirty="0" err="1"/>
              <a:t>Chunk</a:t>
            </a:r>
            <a:endParaRPr lang="fr-FR" dirty="0"/>
          </a:p>
          <a:p>
            <a:pPr lvl="1"/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Il faut poser une question au RAG</a:t>
            </a:r>
          </a:p>
          <a:p>
            <a:pPr lvl="1"/>
            <a:r>
              <a:rPr lang="fr-FR" dirty="0"/>
              <a:t>On applique également un </a:t>
            </a:r>
            <a:r>
              <a:rPr lang="fr-FR" dirty="0" err="1"/>
              <a:t>embedding</a:t>
            </a:r>
            <a:r>
              <a:rPr lang="fr-FR" dirty="0"/>
              <a:t> sur la question</a:t>
            </a:r>
          </a:p>
          <a:p>
            <a:r>
              <a:rPr lang="fr-FR" dirty="0"/>
              <a:t>Puis il faut mesurer des distances</a:t>
            </a:r>
          </a:p>
          <a:p>
            <a:pPr lvl="1"/>
            <a:r>
              <a:rPr lang="fr-FR" dirty="0"/>
              <a:t>Avec une les modèle et algorithmes de distance vu précédemment</a:t>
            </a:r>
          </a:p>
          <a:p>
            <a:r>
              <a:rPr lang="fr-FR" dirty="0"/>
              <a:t>Puis il faut choisir les vecteurs les plus proches</a:t>
            </a:r>
          </a:p>
          <a:p>
            <a:pPr lvl="1"/>
            <a:r>
              <a:rPr lang="fr-FR" dirty="0"/>
              <a:t>Modèle de type </a:t>
            </a:r>
            <a:r>
              <a:rPr lang="fr-FR" dirty="0" err="1"/>
              <a:t>kNN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8332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68087-C8DE-6A25-0AA4-F90B26CC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Vectorisation du prompt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057943-4732-2ED9-0DC9-5BEC8E4C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prompt est également vectorisé</a:t>
            </a:r>
          </a:p>
          <a:p>
            <a:pPr lvl="1"/>
            <a:r>
              <a:rPr lang="fr-FR" dirty="0"/>
              <a:t>En direct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B48EC3-7F9D-3911-A42B-AF4DBB49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600209"/>
            <a:ext cx="7478169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21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88D71-EB7F-3E7C-C95B-3917194C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027C64-0046-5A20-A35B-071B14E62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retrieval</a:t>
            </a:r>
            <a:r>
              <a:rPr lang="fr-FR" dirty="0"/>
              <a:t> consiste à parcourir la BD de vecteurs pour trouver les vecteurs les plus proche du prompt</a:t>
            </a:r>
          </a:p>
          <a:p>
            <a:pPr lvl="1"/>
            <a:r>
              <a:rPr lang="fr-FR" dirty="0"/>
              <a:t>Modèle </a:t>
            </a:r>
            <a:r>
              <a:rPr lang="fr-FR" dirty="0" err="1"/>
              <a:t>kNN</a:t>
            </a:r>
            <a:r>
              <a:rPr lang="fr-FR" dirty="0"/>
              <a:t> :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pPr lvl="1"/>
            <a:r>
              <a:rPr lang="fr-FR" dirty="0"/>
              <a:t>Framework </a:t>
            </a:r>
            <a:r>
              <a:rPr lang="fr-FR" dirty="0" err="1"/>
              <a:t>Scikit-learn</a:t>
            </a:r>
            <a:r>
              <a:rPr lang="fr-FR" dirty="0"/>
              <a:t> ou </a:t>
            </a:r>
            <a:r>
              <a:rPr lang="fr-FR" dirty="0" err="1"/>
              <a:t>np.vstack</a:t>
            </a:r>
            <a:endParaRPr lang="fr-FR" dirty="0"/>
          </a:p>
          <a:p>
            <a:pPr lvl="1"/>
            <a:r>
              <a:rPr lang="fr-FR" dirty="0"/>
              <a:t>Nécessite d'être rapide</a:t>
            </a:r>
          </a:p>
          <a:p>
            <a:pPr lvl="1"/>
            <a:r>
              <a:rPr lang="fr-FR" dirty="0"/>
              <a:t>GPU recommandé</a:t>
            </a:r>
          </a:p>
          <a:p>
            <a:pPr lvl="1"/>
            <a:r>
              <a:rPr lang="fr-FR" dirty="0"/>
              <a:t>k varie de 1 à quelques dizaines</a:t>
            </a:r>
          </a:p>
          <a:p>
            <a:r>
              <a:rPr lang="fr-FR" dirty="0"/>
              <a:t>Le </a:t>
            </a:r>
            <a:r>
              <a:rPr lang="fr-FR"/>
              <a:t>Retrieval</a:t>
            </a:r>
            <a:r>
              <a:rPr lang="fr-FR" dirty="0"/>
              <a:t> retourne donc une liste de vecteurs triés avec les scores</a:t>
            </a:r>
          </a:p>
        </p:txBody>
      </p:sp>
    </p:spTree>
    <p:extLst>
      <p:ext uri="{BB962C8B-B14F-4D97-AF65-F5344CB8AC3E}">
        <p14:creationId xmlns:p14="http://schemas.microsoft.com/office/powerpoint/2010/main" val="4246885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F7A1D-2A5D-7D9E-E291-8F22C715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5A74C8-3A91-4851-F6C5-F9869F199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retrieval_diagram">
            <a:extLst>
              <a:ext uri="{FF2B5EF4-FFF2-40B4-BE49-F238E27FC236}">
                <a16:creationId xmlns:a16="http://schemas.microsoft.com/office/drawing/2014/main" id="{6F697095-20DB-B2E2-FF98-8E4CA9C4B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675"/>
            <a:ext cx="9144000" cy="469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472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45055-9DC2-9613-FA9F-8234BE28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F520CE-9D9F-1351-0554-264AB6E8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meilleurs vecteurs sont retournés</a:t>
            </a:r>
          </a:p>
          <a:p>
            <a:pPr lvl="1"/>
            <a:r>
              <a:rPr lang="fr-FR" dirty="0"/>
              <a:t>Triés par score</a:t>
            </a:r>
          </a:p>
          <a:p>
            <a:pPr lvl="1"/>
            <a:r>
              <a:rPr lang="en-US" dirty="0" err="1"/>
              <a:t>cosine_similarity</a:t>
            </a:r>
            <a:r>
              <a:rPr lang="en-US" dirty="0"/>
              <a:t>(</a:t>
            </a:r>
            <a:r>
              <a:rPr lang="en-US" dirty="0" err="1"/>
              <a:t>query_embedding</a:t>
            </a:r>
            <a:r>
              <a:rPr lang="en-US" dirty="0"/>
              <a:t>, </a:t>
            </a:r>
            <a:r>
              <a:rPr lang="en-US" dirty="0" err="1"/>
              <a:t>np.vstack</a:t>
            </a:r>
            <a:r>
              <a:rPr lang="en-US" dirty="0"/>
              <a:t>(embeddings))</a:t>
            </a:r>
            <a:endParaRPr lang="fr-FR" dirty="0"/>
          </a:p>
          <a:p>
            <a:pPr lvl="1"/>
            <a:r>
              <a:rPr lang="fr-FR" dirty="0"/>
              <a:t>Très rapide</a:t>
            </a:r>
          </a:p>
          <a:p>
            <a:r>
              <a:rPr lang="fr-FR" dirty="0"/>
              <a:t>Gestion de la précision de la réponse</a:t>
            </a:r>
          </a:p>
          <a:p>
            <a:r>
              <a:rPr lang="fr-FR" dirty="0"/>
              <a:t>Meilleure gestion des hallucinations</a:t>
            </a:r>
          </a:p>
          <a:p>
            <a:pPr lvl="1"/>
            <a:r>
              <a:rPr lang="fr-FR" dirty="0"/>
              <a:t>Si le meilleurs score est trop faible</a:t>
            </a:r>
          </a:p>
          <a:p>
            <a:pPr lvl="1"/>
            <a:r>
              <a:rPr lang="fr-FR" dirty="0"/>
              <a:t>Je ne sais pas !</a:t>
            </a:r>
          </a:p>
        </p:txBody>
      </p:sp>
    </p:spTree>
    <p:extLst>
      <p:ext uri="{BB962C8B-B14F-4D97-AF65-F5344CB8AC3E}">
        <p14:creationId xmlns:p14="http://schemas.microsoft.com/office/powerpoint/2010/main" val="3479072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C2F40-ACAB-B971-D53F-3C1202E6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r>
              <a:rPr lang="fr-FR" dirty="0"/>
              <a:t> augmenté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82241C-6832-F692-4788-C7F567F39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retrouver les </a:t>
            </a:r>
            <a:r>
              <a:rPr lang="fr-FR" dirty="0" err="1"/>
              <a:t>chunks</a:t>
            </a:r>
            <a:r>
              <a:rPr lang="fr-FR" dirty="0"/>
              <a:t> et de les réinjecter dans le prompt du LLM</a:t>
            </a:r>
          </a:p>
          <a:p>
            <a:pPr lvl="1"/>
            <a:r>
              <a:rPr lang="fr-FR" dirty="0"/>
              <a:t>Retour d'une réponse augmentée</a:t>
            </a:r>
          </a:p>
          <a:p>
            <a:pPr lvl="1"/>
            <a:r>
              <a:rPr lang="fr-FR" dirty="0"/>
              <a:t>Dépendant du k de </a:t>
            </a:r>
            <a:r>
              <a:rPr lang="fr-FR" dirty="0" err="1"/>
              <a:t>kNN</a:t>
            </a:r>
            <a:endParaRPr lang="fr-FR" dirty="0"/>
          </a:p>
          <a:p>
            <a:r>
              <a:rPr lang="fr-FR" dirty="0"/>
              <a:t>Combien prendre de k?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790E74C-C14F-98D0-9501-2579DAEA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842857"/>
            <a:ext cx="1933845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85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76E44-BE25-3057-5615-3FE82B3B7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08C0F0-740E-82BB-4F19-7C6C73487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vecteurs injectés représentent le contexte du LLM</a:t>
            </a:r>
          </a:p>
          <a:p>
            <a:r>
              <a:rPr lang="fr-FR" dirty="0"/>
              <a:t>La réponse du LLM est </a:t>
            </a:r>
            <a:r>
              <a:rPr lang="fr-FR"/>
              <a:t>une augmentation</a:t>
            </a:r>
          </a:p>
        </p:txBody>
      </p:sp>
    </p:spTree>
    <p:extLst>
      <p:ext uri="{BB962C8B-B14F-4D97-AF65-F5344CB8AC3E}">
        <p14:creationId xmlns:p14="http://schemas.microsoft.com/office/powerpoint/2010/main" val="3990228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2487F-FFD0-5AE0-765A-EB977806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Frameworks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52E0B5-1A8D-A8CF-F62E-A04B79F8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Il existe des </a:t>
            </a:r>
            <a:r>
              <a:rPr lang="fr-FR" sz="2400" dirty="0" err="1"/>
              <a:t>frameworks</a:t>
            </a:r>
            <a:r>
              <a:rPr lang="fr-FR" sz="2400" dirty="0"/>
              <a:t> de LLM et de Chainage</a:t>
            </a:r>
          </a:p>
          <a:p>
            <a:pPr lvl="1"/>
            <a:r>
              <a:rPr lang="fr-FR" sz="2000" dirty="0"/>
              <a:t>Les Tools Chain</a:t>
            </a:r>
          </a:p>
          <a:p>
            <a:r>
              <a:rPr lang="fr-FR" sz="2400" dirty="0"/>
              <a:t>Portable</a:t>
            </a:r>
          </a:p>
          <a:p>
            <a:pPr lvl="1"/>
            <a:r>
              <a:rPr lang="fr-FR" sz="2000" dirty="0"/>
              <a:t>Permettent de programme un LLM indépendamment de son modèle</a:t>
            </a:r>
          </a:p>
          <a:p>
            <a:r>
              <a:rPr lang="fr-FR" sz="2400" dirty="0"/>
              <a:t>RAG</a:t>
            </a:r>
          </a:p>
          <a:p>
            <a:pPr lvl="1"/>
            <a:r>
              <a:rPr lang="fr-FR" sz="2000" dirty="0"/>
              <a:t>Permettent de programmer du RAG</a:t>
            </a:r>
          </a:p>
          <a:p>
            <a:pPr lvl="1"/>
            <a:r>
              <a:rPr lang="fr-FR" sz="2000" dirty="0"/>
              <a:t>Et d'autres choses</a:t>
            </a:r>
          </a:p>
          <a:p>
            <a:r>
              <a:rPr lang="fr-FR" sz="2400" dirty="0" err="1"/>
              <a:t>Chunks</a:t>
            </a:r>
            <a:endParaRPr lang="fr-FR" sz="2400" dirty="0"/>
          </a:p>
          <a:p>
            <a:pPr lvl="1"/>
            <a:r>
              <a:rPr lang="fr-FR" sz="2000" dirty="0"/>
              <a:t>Permettent une meilleure gestion des </a:t>
            </a:r>
            <a:r>
              <a:rPr lang="fr-FR" sz="2000" dirty="0" err="1"/>
              <a:t>chunks</a:t>
            </a:r>
            <a:endParaRPr lang="fr-FR" sz="2000" dirty="0"/>
          </a:p>
          <a:p>
            <a:r>
              <a:rPr lang="fr-FR" sz="2400" dirty="0" err="1"/>
              <a:t>VectorDb</a:t>
            </a:r>
            <a:endParaRPr lang="fr-FR" sz="2400" dirty="0"/>
          </a:p>
          <a:p>
            <a:pPr lvl="1"/>
            <a:r>
              <a:rPr lang="fr-FR" sz="2000" dirty="0"/>
              <a:t>Permettent d'avoir une meilleure gestion du stockage des vecteurs</a:t>
            </a:r>
          </a:p>
          <a:p>
            <a:r>
              <a:rPr lang="fr-FR" sz="2400" dirty="0"/>
              <a:t>Tout peut être fait sans </a:t>
            </a:r>
            <a:r>
              <a:rPr lang="fr-FR" sz="2400"/>
              <a:t>framework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154948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E7858-6156-07E3-FEA0-C4399620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EF0D1-1A58-DDF2-8773-91AAC044E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Historique 2022</a:t>
            </a:r>
          </a:p>
          <a:p>
            <a:r>
              <a:rPr lang="fr-FR" dirty="0"/>
              <a:t>Très complet</a:t>
            </a:r>
          </a:p>
          <a:p>
            <a:r>
              <a:rPr lang="fr-FR" dirty="0"/>
              <a:t>Facile d'utilisation</a:t>
            </a:r>
          </a:p>
          <a:p>
            <a:r>
              <a:rPr lang="fr-FR" dirty="0"/>
              <a:t>Permet d'automatiser un workflow 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0DA405E-CD0C-8C36-7A7E-086440C7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805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C7EF60-093A-F37C-B087-561DA52C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Haystack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3E798-6623-EFA6-23FA-09B215172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Orienté agent IA</a:t>
            </a:r>
          </a:p>
          <a:p>
            <a:r>
              <a:rPr lang="fr-FR" dirty="0"/>
              <a:t>Très complet</a:t>
            </a:r>
          </a:p>
          <a:p>
            <a:pPr lvl="1"/>
            <a:r>
              <a:rPr lang="fr-FR" dirty="0"/>
              <a:t>Assez complexe</a:t>
            </a:r>
          </a:p>
          <a:p>
            <a:r>
              <a:rPr lang="fr-FR" dirty="0"/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3972758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1AB68F-B884-A0DD-E6DE-62A07E04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4D1EF0-163D-DE43-825B-6F8A8AD56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 </a:t>
            </a:r>
            <a:r>
              <a:rPr lang="fr-FR" dirty="0" err="1"/>
              <a:t>GPTIndex</a:t>
            </a:r>
            <a:endParaRPr lang="fr-FR" dirty="0"/>
          </a:p>
          <a:p>
            <a:r>
              <a:rPr lang="fr-FR" dirty="0"/>
              <a:t>Historique 2022</a:t>
            </a:r>
          </a:p>
          <a:p>
            <a:r>
              <a:rPr lang="fr-FR" dirty="0"/>
              <a:t>Libre</a:t>
            </a:r>
          </a:p>
          <a:p>
            <a:r>
              <a:rPr lang="fr-FR" dirty="0"/>
              <a:t>Le plus facile d'utilisation</a:t>
            </a:r>
          </a:p>
          <a:p>
            <a:r>
              <a:rPr lang="fr-FR"/>
              <a:t>RAG</a:t>
            </a:r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A860E2-ECCD-8C4D-AC35-CA1F6A0C4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51287"/>
            <a:ext cx="336279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945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EE49E-05ED-4DF6-A7FA-B90623C4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PineCone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38827-88AA-BF92-4E26-8756D909F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Base de données vectorielle</a:t>
            </a:r>
          </a:p>
          <a:p>
            <a:r>
              <a:rPr lang="fr-FR" dirty="0"/>
              <a:t>SaaS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95FABB-4EBA-9A4A-B938-A8286573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1916832"/>
            <a:ext cx="4277322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27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0AB7B-B7C7-1506-5AA8-49BACC4B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7F050F-6391-1DA6-AC41-89A97A778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Facebook</a:t>
            </a:r>
          </a:p>
          <a:p>
            <a:r>
              <a:rPr lang="fr-FR" dirty="0"/>
              <a:t>Existe un mode CPU</a:t>
            </a:r>
          </a:p>
          <a:p>
            <a:pPr lvl="1"/>
            <a:r>
              <a:rPr lang="fr-FR" dirty="0"/>
              <a:t>FAISS-</a:t>
            </a:r>
            <a:r>
              <a:rPr lang="fr-FR" dirty="0" err="1"/>
              <a:t>cpu</a:t>
            </a:r>
            <a:endParaRPr lang="fr-FR" dirty="0"/>
          </a:p>
          <a:p>
            <a:r>
              <a:rPr lang="fr-FR" dirty="0"/>
              <a:t>Existe en mode GPU</a:t>
            </a:r>
          </a:p>
          <a:p>
            <a:pPr lvl="1"/>
            <a:r>
              <a:rPr lang="fr-FR" dirty="0"/>
              <a:t>Très rapide</a:t>
            </a:r>
          </a:p>
          <a:p>
            <a:pPr lvl="1"/>
            <a:r>
              <a:rPr lang="fr-FR" dirty="0"/>
              <a:t>Nécessite CUDA</a:t>
            </a:r>
          </a:p>
          <a:p>
            <a:pPr lvl="1"/>
            <a:r>
              <a:rPr lang="fr-FR" dirty="0"/>
              <a:t>FAISS-</a:t>
            </a:r>
            <a:r>
              <a:rPr lang="fr-FR" dirty="0" err="1"/>
              <a:t>gpu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30632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41F0B-B001-5224-2C93-4B47EC3C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4B2C39-7A72-77B9-D2D4-E58A7BC73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6935D6-08C4-4EC3-C336-FE75A877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348880"/>
            <a:ext cx="7380333" cy="260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216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C8610-6FA3-BFCE-68CB-4FC669C8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PgVector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B9021A-9850-3DEB-85D1-7E65097F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Base de données de vectorielle</a:t>
            </a:r>
          </a:p>
          <a:p>
            <a:r>
              <a:rPr lang="fr-FR" dirty="0"/>
              <a:t>Nécessaire au-delà de 10M </a:t>
            </a:r>
            <a:r>
              <a:rPr lang="fr-FR" dirty="0" err="1"/>
              <a:t>Chunks</a:t>
            </a:r>
            <a:endParaRPr lang="fr-FR" dirty="0"/>
          </a:p>
          <a:p>
            <a:r>
              <a:rPr lang="fr-FR" dirty="0"/>
              <a:t>Stockage fiable++</a:t>
            </a:r>
          </a:p>
          <a:p>
            <a:r>
              <a:rPr lang="fr-FR" dirty="0"/>
              <a:t>Rapide</a:t>
            </a:r>
          </a:p>
          <a:p>
            <a:r>
              <a:rPr lang="fr-FR" dirty="0"/>
              <a:t>Compatible SQL</a:t>
            </a:r>
          </a:p>
          <a:p>
            <a:pPr lvl="1"/>
            <a:r>
              <a:rPr lang="en-US" sz="2000" dirty="0"/>
              <a:t>SELECT * FROM items ORDER BY embedding &lt;=&gt; '[3,1,2]'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A1D96C-5E17-E21C-FFE5-EC07B1F1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258" y="4910946"/>
            <a:ext cx="3886742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3304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3413</TotalTime>
  <Words>1249</Words>
  <Application>Microsoft Office PowerPoint</Application>
  <PresentationFormat>Affichage à l'écran (4:3)</PresentationFormat>
  <Paragraphs>245</Paragraphs>
  <Slides>43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Arial</vt:lpstr>
      <vt:lpstr>Monotype Sorts</vt:lpstr>
      <vt:lpstr>Times New Roman</vt:lpstr>
      <vt:lpstr>cvc</vt:lpstr>
      <vt:lpstr>Présentation PowerPoint</vt:lpstr>
      <vt:lpstr>RAG</vt:lpstr>
      <vt:lpstr>Architecture</vt:lpstr>
      <vt:lpstr>Présentation PowerPoint</vt:lpstr>
      <vt:lpstr>Présentation PowerPoint</vt:lpstr>
      <vt:lpstr>Les composants du RAG</vt:lpstr>
      <vt:lpstr>Plusieurs méthodologies</vt:lpstr>
      <vt:lpstr>Injection du contexte</vt:lpstr>
      <vt:lpstr>Transformer</vt:lpstr>
      <vt:lpstr>Chunking</vt:lpstr>
      <vt:lpstr>Vectorisation</vt:lpstr>
      <vt:lpstr>Vecteur</vt:lpstr>
      <vt:lpstr>Embedding</vt:lpstr>
      <vt:lpstr>Embedding</vt:lpstr>
      <vt:lpstr>Vector</vt:lpstr>
      <vt:lpstr>Google USE</vt:lpstr>
      <vt:lpstr>Comparaison de vecteurs</vt:lpstr>
      <vt:lpstr>Comparaison de vecteurs</vt:lpstr>
      <vt:lpstr>Cosinus</vt:lpstr>
      <vt:lpstr>Augmentation des dimensions</vt:lpstr>
      <vt:lpstr>Transformation cosine</vt:lpstr>
      <vt:lpstr>Google USE</vt:lpstr>
      <vt:lpstr>Compare Embeddings</vt:lpstr>
      <vt:lpstr>Chunking</vt:lpstr>
      <vt:lpstr>Mécanisme de chunk</vt:lpstr>
      <vt:lpstr>Chunking avancé</vt:lpstr>
      <vt:lpstr>Gestion de l'embedding</vt:lpstr>
      <vt:lpstr>BERT</vt:lpstr>
      <vt:lpstr>Calcul des distances</vt:lpstr>
      <vt:lpstr>Vectorisation du prompt</vt:lpstr>
      <vt:lpstr>Retrieval</vt:lpstr>
      <vt:lpstr>Présentation PowerPoint</vt:lpstr>
      <vt:lpstr>Scores</vt:lpstr>
      <vt:lpstr>Retrieval augmenté</vt:lpstr>
      <vt:lpstr>Augmentation</vt:lpstr>
      <vt:lpstr>Frameworks</vt:lpstr>
      <vt:lpstr>Présentation PowerPoint</vt:lpstr>
      <vt:lpstr>Haystack</vt:lpstr>
      <vt:lpstr>Présentation PowerPoint</vt:lpstr>
      <vt:lpstr>PineCone</vt:lpstr>
      <vt:lpstr>FAISS</vt:lpstr>
      <vt:lpstr>FAISS</vt:lpstr>
      <vt:lpstr>PgVector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266</cp:revision>
  <dcterms:created xsi:type="dcterms:W3CDTF">2000-04-10T19:33:12Z</dcterms:created>
  <dcterms:modified xsi:type="dcterms:W3CDTF">2025-11-18T16:48:29Z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
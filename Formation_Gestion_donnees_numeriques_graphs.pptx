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Titre &amp; objectifs de la formation</a:t>
            </a:r>
          </a:p>
        </p:txBody>
      </p:sp>
      <p:sp>
        <p:nvSpPr>
          <p:cNvPr id="3" name="Content Placeholder 2"/>
          <p:cNvSpPr>
            <a:spLocks noGrp="1"/>
          </p:cNvSpPr>
          <p:nvPr>
            <p:ph idx="1"/>
          </p:nvPr>
        </p:nvSpPr>
        <p:spPr/>
        <p:txBody>
          <a:bodyPr/>
          <a:lstStyle/>
          <a:p/>
          <a:p>
            <a:pPr>
              <a:defRPr sz="1800">
                <a:solidFill>
                  <a:srgbClr val="373B3F"/>
                </a:solidFill>
                <a:latin typeface="Calibri"/>
              </a:defRPr>
            </a:pPr>
            <a:r>
              <a:t>Cette formation présente une démarche complète pour comprendre, organiser et exploiter des données fiables au service de cas d’usage concrets en Data Science et en IA. Elle combine principes, méthodes et exemples pratiques, afin d’accélérer l’adoption opérationnelle dans vos équipes. Date : 14 novembre 2025.</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Introduction à la gestion des données numériques</a:t>
            </a:r>
          </a:p>
        </p:txBody>
      </p:sp>
      <p:sp>
        <p:nvSpPr>
          <p:cNvPr id="3" name="Content Placeholder 2"/>
          <p:cNvSpPr>
            <a:spLocks noGrp="1"/>
          </p:cNvSpPr>
          <p:nvPr>
            <p:ph idx="1"/>
          </p:nvPr>
        </p:nvSpPr>
        <p:spPr/>
        <p:txBody>
          <a:bodyPr/>
          <a:lstStyle/>
          <a:p/>
          <a:p>
            <a:pPr>
              <a:defRPr sz="1800">
                <a:solidFill>
                  <a:srgbClr val="373B3F"/>
                </a:solidFill>
                <a:latin typeface="Calibri"/>
              </a:defRPr>
            </a:pPr>
            <a:r>
              <a:t>La gestion des données couvre l’ensemble des activités de collecte, stockage, préparation et utilisation. Une approche structurée permet d’améliorer la décision, renforcer la conformité et industrialiser les usages analytiques et d’intelligence artificielle dans l’entreprise, de façon mesurable.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Pourquoi la donnée est stratégique aujourd’hui ?</a:t>
            </a:r>
          </a:p>
        </p:txBody>
      </p:sp>
      <p:sp>
        <p:nvSpPr>
          <p:cNvPr id="3" name="Content Placeholder 2"/>
          <p:cNvSpPr>
            <a:spLocks noGrp="1"/>
          </p:cNvSpPr>
          <p:nvPr>
            <p:ph idx="1"/>
          </p:nvPr>
        </p:nvSpPr>
        <p:spPr/>
        <p:txBody>
          <a:bodyPr/>
          <a:lstStyle/>
          <a:p/>
          <a:p>
            <a:pPr>
              <a:defRPr sz="1800">
                <a:solidFill>
                  <a:srgbClr val="373B3F"/>
                </a:solidFill>
                <a:latin typeface="Calibri"/>
              </a:defRPr>
            </a:pPr>
            <a:r>
              <a:t>La donnée crée un avantage compétitif en réduisant le temps d’accès aux insights, en sécurisant les décisions et en favorisant l’innovation. Par exemple, un suivi produit en temps réel permet d’anticiper des ruptures, d’ajuster les prix et d’optimiser le service client localement.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3/30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Qu’est-ce que la Data Science ?</a:t>
            </a:r>
          </a:p>
        </p:txBody>
      </p:sp>
      <p:sp>
        <p:nvSpPr>
          <p:cNvPr id="3" name="Content Placeholder 2"/>
          <p:cNvSpPr>
            <a:spLocks noGrp="1"/>
          </p:cNvSpPr>
          <p:nvPr>
            <p:ph idx="1"/>
          </p:nvPr>
        </p:nvSpPr>
        <p:spPr/>
        <p:txBody>
          <a:bodyPr/>
          <a:lstStyle/>
          <a:p/>
          <a:p>
            <a:pPr>
              <a:defRPr sz="1800">
                <a:solidFill>
                  <a:srgbClr val="373B3F"/>
                </a:solidFill>
                <a:latin typeface="Calibri"/>
              </a:defRPr>
            </a:pPr>
            <a:r>
              <a:t>La Data Science transforme des données en connaissances actionnables grâce aux statistiques, à l’informatique et à l’expertise métier. Par exemple, un modèle de recommandation personnalise l’offre selon l’historique et le contexte, tout en respectant les contraintes de confidentialité applicables.</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4/30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Principes fondamentaux de la Data Science</a:t>
            </a:r>
          </a:p>
        </p:txBody>
      </p:sp>
      <p:sp>
        <p:nvSpPr>
          <p:cNvPr id="3" name="Content Placeholder 2"/>
          <p:cNvSpPr>
            <a:spLocks noGrp="1"/>
          </p:cNvSpPr>
          <p:nvPr>
            <p:ph idx="1"/>
          </p:nvPr>
        </p:nvSpPr>
        <p:spPr/>
        <p:txBody>
          <a:bodyPr/>
          <a:lstStyle/>
          <a:p/>
          <a:p>
            <a:pPr>
              <a:defRPr sz="1800">
                <a:solidFill>
                  <a:srgbClr val="373B3F"/>
                </a:solidFill>
                <a:latin typeface="Calibri"/>
              </a:defRPr>
            </a:pPr>
            <a:r>
              <a:t>Définir clairement le problème métier, formuler des hypothèses, sélectionner des variables pertinentes et expérimenter itérativement. Par exemple, segmenter des clients par comportements d’achat peut guider les campagnes marketing, réduire les coûts et améliorer la satisfaction mesurée après déploiement.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5/30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Concepts clés : algorithmes, modèles, prédictions</a:t>
            </a:r>
          </a:p>
        </p:txBody>
      </p:sp>
      <p:sp>
        <p:nvSpPr>
          <p:cNvPr id="3" name="Content Placeholder 2"/>
          <p:cNvSpPr>
            <a:spLocks noGrp="1"/>
          </p:cNvSpPr>
          <p:nvPr>
            <p:ph idx="1"/>
          </p:nvPr>
        </p:nvSpPr>
        <p:spPr/>
        <p:txBody>
          <a:bodyPr/>
          <a:lstStyle/>
          <a:p/>
          <a:p>
            <a:pPr>
              <a:defRPr sz="1800">
                <a:solidFill>
                  <a:srgbClr val="373B3F"/>
                </a:solidFill>
                <a:latin typeface="Calibri"/>
              </a:defRPr>
            </a:pPr>
            <a:r>
              <a:t>On distingue apprentissage supervisé et non supervisé. Un classifieur prédit une catégorie, tandis qu’une régression estime une valeur. Par exemple, prévoir la demande hebdomadaire permet d’ajuster la production, minimiser les stocks et mieux planifier la logistique multi-sites.</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6/30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L’importance de la donnée dans un contexte IA</a:t>
            </a:r>
          </a:p>
        </p:txBody>
      </p:sp>
      <p:sp>
        <p:nvSpPr>
          <p:cNvPr id="3" name="Content Placeholder 2"/>
          <p:cNvSpPr>
            <a:spLocks noGrp="1"/>
          </p:cNvSpPr>
          <p:nvPr>
            <p:ph idx="1"/>
          </p:nvPr>
        </p:nvSpPr>
        <p:spPr/>
        <p:txBody>
          <a:bodyPr/>
          <a:lstStyle/>
          <a:p/>
          <a:p>
            <a:pPr>
              <a:defRPr sz="1800">
                <a:solidFill>
                  <a:srgbClr val="373B3F"/>
                </a:solidFill>
                <a:latin typeface="Calibri"/>
              </a:defRPr>
            </a:pPr>
            <a:r>
              <a:t>La qualité de la donnée conditionne la performance des modèles. Une base bruyante entraîne des biais et des erreurs, tandis qu’un corpus propre et représentatif améliore la robustesse. Par exemple, enrichir des libellés produits réduit significativement les erreurs de recherche internes.</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7/30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Cycle de vie des données en IA</a:t>
            </a:r>
          </a:p>
        </p:txBody>
      </p:sp>
      <p:sp>
        <p:nvSpPr>
          <p:cNvPr id="3" name="Content Placeholder 2"/>
          <p:cNvSpPr>
            <a:spLocks noGrp="1"/>
          </p:cNvSpPr>
          <p:nvPr>
            <p:ph idx="1"/>
          </p:nvPr>
        </p:nvSpPr>
        <p:spPr/>
        <p:txBody>
          <a:bodyPr/>
          <a:lstStyle/>
          <a:p/>
          <a:p>
            <a:pPr>
              <a:defRPr sz="1800">
                <a:solidFill>
                  <a:srgbClr val="373B3F"/>
                </a:solidFill>
                <a:latin typeface="Calibri"/>
              </a:defRPr>
            </a:pPr>
            <a:r>
              <a:t>Le cycle inclut l’acquisition, la préparation, la labellisation, l’entraînement, le déploiement et le monitoring. Par exemple, un système de détection d’anomalies industrielles s’améliore en continu grâce aux retours opérateurs et à la surveillance des indicateurs de dérive opérationnelle.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8/30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Les jeux de données (datasets) : définition</a:t>
            </a:r>
          </a:p>
        </p:txBody>
      </p:sp>
      <p:sp>
        <p:nvSpPr>
          <p:cNvPr id="3" name="Content Placeholder 2"/>
          <p:cNvSpPr>
            <a:spLocks noGrp="1"/>
          </p:cNvSpPr>
          <p:nvPr>
            <p:ph idx="1"/>
          </p:nvPr>
        </p:nvSpPr>
        <p:spPr/>
        <p:txBody>
          <a:bodyPr/>
          <a:lstStyle/>
          <a:p/>
          <a:p>
            <a:pPr>
              <a:defRPr sz="1800">
                <a:solidFill>
                  <a:srgbClr val="373B3F"/>
                </a:solidFill>
                <a:latin typeface="Calibri"/>
              </a:defRPr>
            </a:pPr>
            <a:r>
              <a:t>Un dataset rassemble des observations homogènes structurées par un schéma et des métadonnées. Par exemple, un jeu de ventes contient identifiants, dates, montants, canaux et campagnes, ce qui permet d’agréger les résultats par produit, période, région et segment client utilement.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9/30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Types de datasets : structurés vs non structurés</a:t>
            </a:r>
          </a:p>
        </p:txBody>
      </p:sp>
      <p:sp>
        <p:nvSpPr>
          <p:cNvPr id="3" name="Content Placeholder 2"/>
          <p:cNvSpPr>
            <a:spLocks noGrp="1"/>
          </p:cNvSpPr>
          <p:nvPr>
            <p:ph idx="1"/>
          </p:nvPr>
        </p:nvSpPr>
        <p:spPr/>
        <p:txBody>
          <a:bodyPr/>
          <a:lstStyle/>
          <a:p/>
          <a:p>
            <a:pPr>
              <a:defRPr sz="1800">
                <a:solidFill>
                  <a:srgbClr val="373B3F"/>
                </a:solidFill>
                <a:latin typeface="Calibri"/>
              </a:defRPr>
            </a:pPr>
            <a:r>
              <a:t>Les données structurées résident dans des tables relationnelles, tandis que les non structurées incluent textes, images, sons et vidéos. Par exemple, combiner tickets clients et historiques d’achats améliore l’analyse des motifs d’insatisfaction et les actions correctives ciblées.</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10/30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Sources de données : internes, externes, open data</a:t>
            </a:r>
          </a:p>
        </p:txBody>
      </p:sp>
      <p:sp>
        <p:nvSpPr>
          <p:cNvPr id="3" name="Content Placeholder 2"/>
          <p:cNvSpPr>
            <a:spLocks noGrp="1"/>
          </p:cNvSpPr>
          <p:nvPr>
            <p:ph idx="1"/>
          </p:nvPr>
        </p:nvSpPr>
        <p:spPr/>
        <p:txBody>
          <a:bodyPr/>
          <a:lstStyle/>
          <a:p/>
          <a:p>
            <a:pPr>
              <a:defRPr sz="1800">
                <a:solidFill>
                  <a:srgbClr val="373B3F"/>
                </a:solidFill>
                <a:latin typeface="Calibri"/>
              </a:defRPr>
            </a:pPr>
            <a:r>
              <a:t>Les sources internes proviennent d’ERP, CRM ou capteurs, les externes de partenaires et l’open data de plateformes publiques. Par exemple, enrichir des adresses avec des données géographiques publiques améliore la pertinence de campagnes locales au bon moment.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11/30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Obtenir des données : collecte et acquisition</a:t>
            </a:r>
          </a:p>
        </p:txBody>
      </p:sp>
      <p:sp>
        <p:nvSpPr>
          <p:cNvPr id="3" name="Content Placeholder 2"/>
          <p:cNvSpPr>
            <a:spLocks noGrp="1"/>
          </p:cNvSpPr>
          <p:nvPr>
            <p:ph idx="1"/>
          </p:nvPr>
        </p:nvSpPr>
        <p:spPr/>
        <p:txBody>
          <a:bodyPr/>
          <a:lstStyle/>
          <a:p/>
          <a:p>
            <a:pPr>
              <a:defRPr sz="1800">
                <a:solidFill>
                  <a:srgbClr val="373B3F"/>
                </a:solidFill>
                <a:latin typeface="Calibri"/>
              </a:defRPr>
            </a:pPr>
            <a:r>
              <a:t>On collecte via APIs, fichiers batch ou flux temps réel. Un pipeline ETL/ELT documenté garantit traçabilité et conformité. Par exemple, agréger quotidiennement commandes et retours permet de détecter rapidement un défaut qualité et d’alerter les équipes produit.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12/30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Stockage des données : bases, cloud, data lakes</a:t>
            </a:r>
          </a:p>
        </p:txBody>
      </p:sp>
      <p:sp>
        <p:nvSpPr>
          <p:cNvPr id="3" name="Content Placeholder 2"/>
          <p:cNvSpPr>
            <a:spLocks noGrp="1"/>
          </p:cNvSpPr>
          <p:nvPr>
            <p:ph idx="1"/>
          </p:nvPr>
        </p:nvSpPr>
        <p:spPr/>
        <p:txBody>
          <a:bodyPr/>
          <a:lstStyle/>
          <a:p/>
          <a:p>
            <a:pPr>
              <a:defRPr sz="1800">
                <a:solidFill>
                  <a:srgbClr val="373B3F"/>
                </a:solidFill>
                <a:latin typeface="Calibri"/>
              </a:defRPr>
            </a:pPr>
            <a:r>
              <a:t>Choisir SGBDR ou NoSQL selon les usages, et combiner entrepôt et data lake pour concilier gouvernance et flexibilité. Par exemple, stocker les logs applicatifs en format colonnes compresse les coûts et accélère les analyses ad hoc des incidents.</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13/30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Nettoyage des données : techniques et outils</a:t>
            </a:r>
          </a:p>
        </p:txBody>
      </p:sp>
      <p:sp>
        <p:nvSpPr>
          <p:cNvPr id="3" name="Content Placeholder 2"/>
          <p:cNvSpPr>
            <a:spLocks noGrp="1"/>
          </p:cNvSpPr>
          <p:nvPr>
            <p:ph idx="1"/>
          </p:nvPr>
        </p:nvSpPr>
        <p:spPr/>
        <p:txBody>
          <a:bodyPr/>
          <a:lstStyle/>
          <a:p/>
          <a:p>
            <a:pPr>
              <a:defRPr sz="1800">
                <a:solidFill>
                  <a:srgbClr val="373B3F"/>
                </a:solidFill>
                <a:latin typeface="Calibri"/>
              </a:defRPr>
            </a:pPr>
            <a:r>
              <a:t>Le nettoyage traite valeurs manquantes, doublons et incohérences par normalisation et règles métiers. Par exemple, harmoniser les codes pays et dédupliquer les contacts réduit les coûts de campagne et augmente la qualité des indicateurs partagés aux décideurs.</a:t>
            </a:r>
          </a:p>
        </p:txBody>
      </p:sp>
      <p:pic>
        <p:nvPicPr>
          <p:cNvPr id="4" name="Picture 3" descr="chart_missing_values.png"/>
          <p:cNvPicPr>
            <a:picLocks noChangeAspect="1"/>
          </p:cNvPicPr>
          <p:nvPr/>
        </p:nvPicPr>
        <p:blipFill>
          <a:blip r:embed="rId2"/>
          <a:stretch>
            <a:fillRect/>
          </a:stretch>
        </p:blipFill>
        <p:spPr>
          <a:xfrm>
            <a:off x="5486400" y="1828800"/>
            <a:ext cx="4628827"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14/30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Qualité des données : enjeux et indicateurs</a:t>
            </a:r>
          </a:p>
        </p:txBody>
      </p:sp>
      <p:sp>
        <p:nvSpPr>
          <p:cNvPr id="3" name="Content Placeholder 2"/>
          <p:cNvSpPr>
            <a:spLocks noGrp="1"/>
          </p:cNvSpPr>
          <p:nvPr>
            <p:ph idx="1"/>
          </p:nvPr>
        </p:nvSpPr>
        <p:spPr/>
        <p:txBody>
          <a:bodyPr/>
          <a:lstStyle/>
          <a:p/>
          <a:p>
            <a:pPr>
              <a:defRPr sz="1800">
                <a:solidFill>
                  <a:srgbClr val="373B3F"/>
                </a:solidFill>
                <a:latin typeface="Calibri"/>
              </a:defRPr>
            </a:pPr>
            <a:r>
              <a:t>La qualité se mesure par l’exactitude, la complétude, la cohérence et la fraîcheur. Par exemple, un tableau de bord hebdomadaire de qualité met en évidence des colonnes critiques, déclenche des corrections et sécurise la fiabilité des rapports exécutifs publiés.</a:t>
            </a:r>
          </a:p>
        </p:txBody>
      </p:sp>
      <p:pic>
        <p:nvPicPr>
          <p:cNvPr id="4" name="Picture 3" descr="chart_radar_qualite.png"/>
          <p:cNvPicPr>
            <a:picLocks noChangeAspect="1"/>
          </p:cNvPicPr>
          <p:nvPr/>
        </p:nvPicPr>
        <p:blipFill>
          <a:blip r:embed="rId2"/>
          <a:stretch>
            <a:fillRect/>
          </a:stretch>
        </p:blipFill>
        <p:spPr>
          <a:xfrm>
            <a:off x="5486400" y="1828800"/>
            <a:ext cx="3617280"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15/30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Ensembles d’entraînement, validation et test</a:t>
            </a:r>
          </a:p>
        </p:txBody>
      </p:sp>
      <p:sp>
        <p:nvSpPr>
          <p:cNvPr id="3" name="Content Placeholder 2"/>
          <p:cNvSpPr>
            <a:spLocks noGrp="1"/>
          </p:cNvSpPr>
          <p:nvPr>
            <p:ph idx="1"/>
          </p:nvPr>
        </p:nvSpPr>
        <p:spPr/>
        <p:txBody>
          <a:bodyPr/>
          <a:lstStyle/>
          <a:p/>
          <a:p>
            <a:pPr>
              <a:defRPr sz="1800">
                <a:solidFill>
                  <a:srgbClr val="373B3F"/>
                </a:solidFill>
                <a:latin typeface="Calibri"/>
              </a:defRPr>
            </a:pPr>
            <a:r>
              <a:t>Séparer les ensembles évite la fuite d’information et garantit une estimation honnête de performance. Par exemple, réserver un jeu de test temporel permet de simuler une mise en production future et d’évaluer la robustesse réellement attendue.</a:t>
            </a:r>
          </a:p>
        </p:txBody>
      </p:sp>
      <p:pic>
        <p:nvPicPr>
          <p:cNvPr id="4" name="Picture 3" descr="chart_split.png"/>
          <p:cNvPicPr>
            <a:picLocks noChangeAspect="1"/>
          </p:cNvPicPr>
          <p:nvPr/>
        </p:nvPicPr>
        <p:blipFill>
          <a:blip r:embed="rId2"/>
          <a:stretch>
            <a:fillRect/>
          </a:stretch>
        </p:blipFill>
        <p:spPr>
          <a:xfrm>
            <a:off x="5486400" y="1828800"/>
            <a:ext cx="2916776"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16/30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Pourquoi séparer ces ensembles ?</a:t>
            </a:r>
          </a:p>
        </p:txBody>
      </p:sp>
      <p:sp>
        <p:nvSpPr>
          <p:cNvPr id="3" name="Content Placeholder 2"/>
          <p:cNvSpPr>
            <a:spLocks noGrp="1"/>
          </p:cNvSpPr>
          <p:nvPr>
            <p:ph idx="1"/>
          </p:nvPr>
        </p:nvSpPr>
        <p:spPr/>
        <p:txBody>
          <a:bodyPr/>
          <a:lstStyle/>
          <a:p/>
          <a:p>
            <a:pPr>
              <a:defRPr sz="1800">
                <a:solidFill>
                  <a:srgbClr val="373B3F"/>
                </a:solidFill>
                <a:latin typeface="Calibri"/>
              </a:defRPr>
            </a:pPr>
            <a:r>
              <a:t>Sans séparation, on sur-apprend aux particularités de l’échantillon et on surestime la performance. Par exemple, une campagne prédictive semble parfaite en interne, mais échoue en production car les données réelles diffèrent des jeux d’entraînement initiaux.</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17/30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Outils pour la visualisation (Dataviz)</a:t>
            </a:r>
          </a:p>
        </p:txBody>
      </p:sp>
      <p:sp>
        <p:nvSpPr>
          <p:cNvPr id="3" name="Content Placeholder 2"/>
          <p:cNvSpPr>
            <a:spLocks noGrp="1"/>
          </p:cNvSpPr>
          <p:nvPr>
            <p:ph idx="1"/>
          </p:nvPr>
        </p:nvSpPr>
        <p:spPr/>
        <p:txBody>
          <a:bodyPr/>
          <a:lstStyle/>
          <a:p/>
          <a:p>
            <a:pPr>
              <a:defRPr sz="1800">
                <a:solidFill>
                  <a:srgbClr val="373B3F"/>
                </a:solidFill>
                <a:latin typeface="Calibri"/>
              </a:defRPr>
            </a:pPr>
            <a:r>
              <a:t>La dataviz sert l’exploration, l’explication et la décision. Par exemple, un graphique en barres comparant des canaux marketing révèle immédiatement l’efficacité relative et guide la redistribution budgétaire vers les leviers les plus performants rapidement.</a:t>
            </a:r>
          </a:p>
        </p:txBody>
      </p:sp>
      <p:pic>
        <p:nvPicPr>
          <p:cNvPr id="4" name="Picture 3" descr="chart_histogram.png"/>
          <p:cNvPicPr>
            <a:picLocks noChangeAspect="1"/>
          </p:cNvPicPr>
          <p:nvPr/>
        </p:nvPicPr>
        <p:blipFill>
          <a:blip r:embed="rId2"/>
          <a:stretch>
            <a:fillRect/>
          </a:stretch>
        </p:blipFill>
        <p:spPr>
          <a:xfrm>
            <a:off x="5486400" y="1828800"/>
            <a:ext cx="4311574"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18/30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Principes de la Dataviz efficace</a:t>
            </a:r>
          </a:p>
        </p:txBody>
      </p:sp>
      <p:sp>
        <p:nvSpPr>
          <p:cNvPr id="3" name="Content Placeholder 2"/>
          <p:cNvSpPr>
            <a:spLocks noGrp="1"/>
          </p:cNvSpPr>
          <p:nvPr>
            <p:ph idx="1"/>
          </p:nvPr>
        </p:nvSpPr>
        <p:spPr/>
        <p:txBody>
          <a:bodyPr/>
          <a:lstStyle/>
          <a:p/>
          <a:p>
            <a:pPr>
              <a:defRPr sz="1800">
                <a:solidFill>
                  <a:srgbClr val="373B3F"/>
                </a:solidFill>
                <a:latin typeface="Calibri"/>
              </a:defRPr>
            </a:pPr>
            <a:r>
              <a:t>Privilégier la simplicité, les comparaisons claires, des axes honnêtes et des annotations utiles. Par exemple, enlever la 3D superflue et ajouter une référence cible améliore la compréhension et accélère la décision lors d’un comité mensuel opérationnel exigeant.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19/30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Exemples d’outils de Dataviz</a:t>
            </a:r>
          </a:p>
        </p:txBody>
      </p:sp>
      <p:sp>
        <p:nvSpPr>
          <p:cNvPr id="3" name="Content Placeholder 2"/>
          <p:cNvSpPr>
            <a:spLocks noGrp="1"/>
          </p:cNvSpPr>
          <p:nvPr>
            <p:ph idx="1"/>
          </p:nvPr>
        </p:nvSpPr>
        <p:spPr/>
        <p:txBody>
          <a:bodyPr/>
          <a:lstStyle/>
          <a:p/>
          <a:p>
            <a:pPr>
              <a:defRPr sz="1800">
                <a:solidFill>
                  <a:srgbClr val="373B3F"/>
                </a:solidFill>
                <a:latin typeface="Calibri"/>
              </a:defRPr>
            </a:pPr>
            <a:r>
              <a:t>Power BI, Tableau et Qlik facilitent la création de tableaux de bord gouvernés, tandis que Python et R offrent flexibilité analytique. Par exemple, prototyper sous notebooks puis industrialiser sous Power BI concilie vitesse d’exploration et gouvernance centralisée robuste.</a:t>
            </a:r>
          </a:p>
        </p:txBody>
      </p:sp>
      <p:pic>
        <p:nvPicPr>
          <p:cNvPr id="4" name="Picture 3" descr="chart_cost_perf.png"/>
          <p:cNvPicPr>
            <a:picLocks noChangeAspect="1"/>
          </p:cNvPicPr>
          <p:nvPr/>
        </p:nvPicPr>
        <p:blipFill>
          <a:blip r:embed="rId2"/>
          <a:stretch>
            <a:fillRect/>
          </a:stretch>
        </p:blipFill>
        <p:spPr>
          <a:xfrm>
            <a:off x="5486400" y="1828800"/>
            <a:ext cx="3846296"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20/30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Focus qualité : processus &amp; rôles</a:t>
            </a:r>
          </a:p>
        </p:txBody>
      </p:sp>
      <p:sp>
        <p:nvSpPr>
          <p:cNvPr id="3" name="Content Placeholder 2"/>
          <p:cNvSpPr>
            <a:spLocks noGrp="1"/>
          </p:cNvSpPr>
          <p:nvPr>
            <p:ph idx="1"/>
          </p:nvPr>
        </p:nvSpPr>
        <p:spPr/>
        <p:txBody>
          <a:bodyPr/>
          <a:lstStyle/>
          <a:p/>
          <a:p>
            <a:pPr>
              <a:defRPr sz="1800">
                <a:solidFill>
                  <a:srgbClr val="373B3F"/>
                </a:solidFill>
                <a:latin typeface="Calibri"/>
              </a:defRPr>
            </a:pPr>
            <a:r>
              <a:t>Les data owners et stewards définissent règles, contrôles et responsabilités. Par exemple, un SLA de fraîcheur sur une table produit déclenche une alerte si la mise à jour dépasse vingt-quatre heures, ce qui sécurise les indicateurs d’activité sensibles ensuite.</a:t>
            </a:r>
          </a:p>
        </p:txBody>
      </p:sp>
      <p:pic>
        <p:nvPicPr>
          <p:cNvPr id="4" name="Picture 3" descr="chart_radar_qualite.png"/>
          <p:cNvPicPr>
            <a:picLocks noChangeAspect="1"/>
          </p:cNvPicPr>
          <p:nvPr/>
        </p:nvPicPr>
        <p:blipFill>
          <a:blip r:embed="rId2"/>
          <a:stretch>
            <a:fillRect/>
          </a:stretch>
        </p:blipFill>
        <p:spPr>
          <a:xfrm>
            <a:off x="5486400" y="1828800"/>
            <a:ext cx="3617280"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21/30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Risques liés à des données de mauvaise qualité</a:t>
            </a:r>
          </a:p>
        </p:txBody>
      </p:sp>
      <p:sp>
        <p:nvSpPr>
          <p:cNvPr id="3" name="Content Placeholder 2"/>
          <p:cNvSpPr>
            <a:spLocks noGrp="1"/>
          </p:cNvSpPr>
          <p:nvPr>
            <p:ph idx="1"/>
          </p:nvPr>
        </p:nvSpPr>
        <p:spPr/>
        <p:txBody>
          <a:bodyPr/>
          <a:lstStyle/>
          <a:p/>
          <a:p>
            <a:pPr>
              <a:defRPr sz="1800">
                <a:solidFill>
                  <a:srgbClr val="373B3F"/>
                </a:solidFill>
                <a:latin typeface="Calibri"/>
              </a:defRPr>
            </a:pPr>
            <a:r>
              <a:t>Une donnée médiocre induit décisions erronées, biais, non-conformité et coûts opérationnels. Par exemple, un doublon client fausse le chiffre d’affaires, déclenche des envois multiples et détériore la satisfaction, avec des impacts financiers immédiats et durables notablement.</a:t>
            </a:r>
          </a:p>
        </p:txBody>
      </p:sp>
      <p:pic>
        <p:nvPicPr>
          <p:cNvPr id="4" name="Picture 3" descr="chart_pipeline_retention.png"/>
          <p:cNvPicPr>
            <a:picLocks noChangeAspect="1"/>
          </p:cNvPicPr>
          <p:nvPr/>
        </p:nvPicPr>
        <p:blipFill>
          <a:blip r:embed="rId2"/>
          <a:stretch>
            <a:fillRect/>
          </a:stretch>
        </p:blipFill>
        <p:spPr>
          <a:xfrm>
            <a:off x="5486400" y="1828800"/>
            <a:ext cx="5326123"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22/30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Bonnes pratiques pour garantir la qualité</a:t>
            </a:r>
          </a:p>
        </p:txBody>
      </p:sp>
      <p:sp>
        <p:nvSpPr>
          <p:cNvPr id="3" name="Content Placeholder 2"/>
          <p:cNvSpPr>
            <a:spLocks noGrp="1"/>
          </p:cNvSpPr>
          <p:nvPr>
            <p:ph idx="1"/>
          </p:nvPr>
        </p:nvSpPr>
        <p:spPr/>
        <p:txBody>
          <a:bodyPr/>
          <a:lstStyle/>
          <a:p/>
          <a:p>
            <a:pPr>
              <a:defRPr sz="1800">
                <a:solidFill>
                  <a:srgbClr val="373B3F"/>
                </a:solidFill>
                <a:latin typeface="Calibri"/>
              </a:defRPr>
            </a:pPr>
            <a:r>
              <a:t>Mettre en place contrats de données, tests automatiques et monitoring des dérives. Par exemple, Great Expectations vérifie des contraintes de schéma, tandis que des alertes de drift signalent un changement de distribution nécessitant une réentraînement planifié utilement.</a:t>
            </a:r>
          </a:p>
        </p:txBody>
      </p:sp>
      <p:pic>
        <p:nvPicPr>
          <p:cNvPr id="4" name="Picture 3" descr="chart_freshness.png"/>
          <p:cNvPicPr>
            <a:picLocks noChangeAspect="1"/>
          </p:cNvPicPr>
          <p:nvPr/>
        </p:nvPicPr>
        <p:blipFill>
          <a:blip r:embed="rId2"/>
          <a:stretch>
            <a:fillRect/>
          </a:stretch>
        </p:blipFill>
        <p:spPr>
          <a:xfrm>
            <a:off x="5486400" y="1828800"/>
            <a:ext cx="4411121"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23/30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Cas pratique 1 : Préparation d’un dataset pour l’IA</a:t>
            </a:r>
          </a:p>
        </p:txBody>
      </p:sp>
      <p:sp>
        <p:nvSpPr>
          <p:cNvPr id="3" name="Content Placeholder 2"/>
          <p:cNvSpPr>
            <a:spLocks noGrp="1"/>
          </p:cNvSpPr>
          <p:nvPr>
            <p:ph idx="1"/>
          </p:nvPr>
        </p:nvSpPr>
        <p:spPr/>
        <p:txBody>
          <a:bodyPr/>
          <a:lstStyle/>
          <a:p/>
          <a:p>
            <a:pPr>
              <a:defRPr sz="1800">
                <a:solidFill>
                  <a:srgbClr val="373B3F"/>
                </a:solidFill>
                <a:latin typeface="Calibri"/>
              </a:defRPr>
            </a:pPr>
            <a:r>
              <a:t>À partir d’un fichier ventes, nous profilons les colonnes, traitons les valeurs manquantes et créons des variables dérivées. Par exemple, la création d’un indicateur de récence améliore un modèle de churn en offrant un signal comportemental simple et puissant ensemble.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24/30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Cas pratique 2 : Visualisation et interprétation</a:t>
            </a:r>
          </a:p>
        </p:txBody>
      </p:sp>
      <p:sp>
        <p:nvSpPr>
          <p:cNvPr id="3" name="Content Placeholder 2"/>
          <p:cNvSpPr>
            <a:spLocks noGrp="1"/>
          </p:cNvSpPr>
          <p:nvPr>
            <p:ph idx="1"/>
          </p:nvPr>
        </p:nvSpPr>
        <p:spPr/>
        <p:txBody>
          <a:bodyPr/>
          <a:lstStyle/>
          <a:p/>
          <a:p>
            <a:pPr>
              <a:defRPr sz="1800">
                <a:solidFill>
                  <a:srgbClr val="373B3F"/>
                </a:solidFill>
                <a:latin typeface="Calibri"/>
              </a:defRPr>
            </a:pPr>
            <a:r>
              <a:t>Nous construisons un tableau de bord simple avec ventes, marge et taux de retour. Par exemple, un graphique lignes par semaine révèle une saisonnalité, tandis qu’une carte met en évidence des régions sous-performantes nécessitant un plan d’actions ciblé réactif.</a:t>
            </a:r>
          </a:p>
        </p:txBody>
      </p:sp>
      <p:pic>
        <p:nvPicPr>
          <p:cNvPr id="4" name="Picture 3" descr="chart_drift.png"/>
          <p:cNvPicPr>
            <a:picLocks noChangeAspect="1"/>
          </p:cNvPicPr>
          <p:nvPr/>
        </p:nvPicPr>
        <p:blipFill>
          <a:blip r:embed="rId2"/>
          <a:stretch>
            <a:fillRect/>
          </a:stretch>
        </p:blipFill>
        <p:spPr>
          <a:xfrm>
            <a:off x="5486400" y="1828800"/>
            <a:ext cx="4350278"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25/30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Étude de cas : projet Data Science en entreprise</a:t>
            </a:r>
          </a:p>
        </p:txBody>
      </p:sp>
      <p:sp>
        <p:nvSpPr>
          <p:cNvPr id="3" name="Content Placeholder 2"/>
          <p:cNvSpPr>
            <a:spLocks noGrp="1"/>
          </p:cNvSpPr>
          <p:nvPr>
            <p:ph idx="1"/>
          </p:nvPr>
        </p:nvSpPr>
        <p:spPr/>
        <p:txBody>
          <a:bodyPr/>
          <a:lstStyle/>
          <a:p/>
          <a:p>
            <a:pPr>
              <a:defRPr sz="1800">
                <a:solidFill>
                  <a:srgbClr val="373B3F"/>
                </a:solidFill>
                <a:latin typeface="Calibri"/>
              </a:defRPr>
            </a:pPr>
            <a:r>
              <a:t>Sur un cas de prévision de demande, la consolidation des historiques et promotions a permis d’abaisser les ruptures. Par exemple, une réduction de dix pour cent des stocks dormants a été obtenue grâce à une meilleure allocation par entrepôt géographiquement adaptée efficacement.</a:t>
            </a:r>
          </a:p>
        </p:txBody>
      </p:sp>
      <p:pic>
        <p:nvPicPr>
          <p:cNvPr id="4" name="Picture 3" descr="chart_confusion.png"/>
          <p:cNvPicPr>
            <a:picLocks noChangeAspect="1"/>
          </p:cNvPicPr>
          <p:nvPr/>
        </p:nvPicPr>
        <p:blipFill>
          <a:blip r:embed="rId2"/>
          <a:stretch>
            <a:fillRect/>
          </a:stretch>
        </p:blipFill>
        <p:spPr>
          <a:xfrm>
            <a:off x="5486400" y="1828800"/>
            <a:ext cx="3701601"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26/30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Retour d’expérience : erreurs fréquentes</a:t>
            </a:r>
          </a:p>
        </p:txBody>
      </p:sp>
      <p:sp>
        <p:nvSpPr>
          <p:cNvPr id="3" name="Content Placeholder 2"/>
          <p:cNvSpPr>
            <a:spLocks noGrp="1"/>
          </p:cNvSpPr>
          <p:nvPr>
            <p:ph idx="1"/>
          </p:nvPr>
        </p:nvSpPr>
        <p:spPr/>
        <p:txBody>
          <a:bodyPr/>
          <a:lstStyle/>
          <a:p/>
          <a:p>
            <a:pPr>
              <a:defRPr sz="1800">
                <a:solidFill>
                  <a:srgbClr val="373B3F"/>
                </a:solidFill>
                <a:latin typeface="Calibri"/>
              </a:defRPr>
            </a:pPr>
            <a:r>
              <a:t>Les écueils récurrents incluent la fuite de cibles, l’échantillon non représentatif et la métrique inadéquate. Par exemple, optimiser une précision globale sur données déséquilibrées masque les faux négatifs critiques pour l’activité, provoquant des décisions risquées ensuite.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27/30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Gouvernance &amp; conformité (RGPD, sécurité)</a:t>
            </a:r>
          </a:p>
        </p:txBody>
      </p:sp>
      <p:sp>
        <p:nvSpPr>
          <p:cNvPr id="3" name="Content Placeholder 2"/>
          <p:cNvSpPr>
            <a:spLocks noGrp="1"/>
          </p:cNvSpPr>
          <p:nvPr>
            <p:ph idx="1"/>
          </p:nvPr>
        </p:nvSpPr>
        <p:spPr/>
        <p:txBody>
          <a:bodyPr/>
          <a:lstStyle/>
          <a:p/>
          <a:p>
            <a:pPr>
              <a:defRPr sz="1800">
                <a:solidFill>
                  <a:srgbClr val="373B3F"/>
                </a:solidFill>
                <a:latin typeface="Calibri"/>
              </a:defRPr>
            </a:pPr>
            <a:r>
              <a:t>Assurer base légale, minimisation et droits des personnes, avec sécurité d’accès et journalisation. Par exemple, pseudonymiser les identifiants clients en sandbox permet l’exploration des données sans exposition inutile d’informations personnelles sensibles effectivement.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28/30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Quiz / QCM d’évaluation</a:t>
            </a:r>
          </a:p>
        </p:txBody>
      </p:sp>
      <p:sp>
        <p:nvSpPr>
          <p:cNvPr id="3" name="Content Placeholder 2"/>
          <p:cNvSpPr>
            <a:spLocks noGrp="1"/>
          </p:cNvSpPr>
          <p:nvPr>
            <p:ph idx="1"/>
          </p:nvPr>
        </p:nvSpPr>
        <p:spPr/>
        <p:txBody>
          <a:bodyPr/>
          <a:lstStyle/>
          <a:p/>
          <a:p>
            <a:pPr>
              <a:defRPr sz="1800">
                <a:solidFill>
                  <a:srgbClr val="373B3F"/>
                </a:solidFill>
                <a:latin typeface="Calibri"/>
              </a:defRPr>
            </a:pPr>
            <a:r>
              <a:t>Le quiz final couvre séparation des ensembles, data quality, data drift et dataviz honnête. Par exemple, une question demande d’identifier un cas de fuite de données, et la correction expliquée rappelle les contrôles recommandés durant l’entraînement robuste.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29/30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400" b="1">
                <a:solidFill>
                  <a:srgbClr val="212529"/>
                </a:solidFill>
                <a:latin typeface="Calibri"/>
              </a:defRPr>
            </a:pPr>
            <a:r>
              <a:t>Conclusion &amp; prochaines étapes</a:t>
            </a:r>
          </a:p>
        </p:txBody>
      </p:sp>
      <p:sp>
        <p:nvSpPr>
          <p:cNvPr id="3" name="Content Placeholder 2"/>
          <p:cNvSpPr>
            <a:spLocks noGrp="1"/>
          </p:cNvSpPr>
          <p:nvPr>
            <p:ph idx="1"/>
          </p:nvPr>
        </p:nvSpPr>
        <p:spPr/>
        <p:txBody>
          <a:bodyPr/>
          <a:lstStyle/>
          <a:p/>
          <a:p>
            <a:pPr>
              <a:defRPr sz="1800">
                <a:solidFill>
                  <a:srgbClr val="373B3F"/>
                </a:solidFill>
                <a:latin typeface="Calibri"/>
              </a:defRPr>
            </a:pPr>
            <a:r>
              <a:t>Vous disposez désormais d’une trame opérationnelle pour gérer, évaluer et exploiter des données de qualité. Prochaine étape : prioriser deux cas d’usage, mettre en place les contrôles automatiques et partager un tableau de bord de qualité sponsorisé durablement.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30/30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